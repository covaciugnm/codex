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chidere" id="{d722e13b-01f0-cb04-a2a0-eb0d2b07cbcb}">
          <p14:sldIdLst>
            <p14:sldId id="256"/>
            <p14:sldId id="257"/>
            <p14:sldId id="258"/>
            <p14:sldId id="259"/>
          </p14:sldIdLst>
        </p14:section>
        <p14:section name="F4 · Același user, două telefoane (LAN)" id="{9437c8ca-2e98-9f0f-eb4b-cf992d5fe449}">
          <p14:sldIdLst>
            <p14:sldId id="260"/>
            <p14:sldId id="261"/>
            <p14:sldId id="262"/>
            <p14:sldId id="263"/>
            <p14:sldId id="264"/>
            <p14:sldId id="265"/>
            <p14:sldId id="266"/>
            <p14:sldId id="267"/>
            <p14:sldId id="268"/>
            <p14:sldId id="269"/>
            <p14:sldId id="270"/>
            <p14:sldId id="271"/>
            <p14:sldId id="272"/>
            <p14:sldId id="273"/>
            <p14:sldId id="274"/>
            <p14:sldId id="275"/>
          </p14:sldIdLst>
        </p14:section>
        <p14:section name="F5 · Doi useri: izolarea datelor" id="{6ab9de0e-5f0a-5d22-48bc-0748799b5557}">
          <p14:sldIdLst>
            <p14:sldId id="276"/>
            <p14:sldId id="277"/>
            <p14:sldId id="278"/>
            <p14:sldId id="279"/>
            <p14:sldId id="280"/>
          </p14:sldIdLst>
        </p14:section>
        <p14:section name="F6 · WAN, în afara rețelei locale" id="{ee80ace6-7836-f222-bfe3-2accca1ea3f2}">
          <p14:sldIdLst>
            <p14:sldId id="281"/>
            <p14:sldId id="282"/>
            <p14:sldId id="283"/>
            <p14:sldId id="284"/>
            <p14:sldId id="285"/>
          </p14:sldIdLst>
        </p14:section>
        <p14:section name="F7 · Reziliență" id="{e584a66c-3456-2b5f-5d1a-8b5e51ad6247}">
          <p14:sldIdLst>
            <p14:sldId id="286"/>
            <p14:sldId id="287"/>
            <p14:sldId id="288"/>
            <p14:sldId id="289"/>
            <p14:sldId id="290"/>
            <p14:sldId id="291"/>
          </p14:sldIdLst>
        </p14:section>
        <p14:section name="Încheiere" id="{84dae1b5-b9b8-83f7-f561-3a18a59c0471}">
          <p14:sldIdLst>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„Trecem la F4 · Același user, două telefoane (LAN). A și B cu contul U1, în aceeași rețea Wi-Fi. 15 pași, T-L01…T-L15.”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„Începem sesiunea live. Ambele telefoane intră cu același cont, U1. SERVER, confirmă că vezi două dispozitive în /admin/test.”
Telefon A: Deschide aplicația și intră cu contul U1. Verifică în modul de diagnostic: user U1, rețea LAN. Așteptat: prezent (sesiune U1 activă).
Telefon B: Intră tot cu contul U1. Vede aceeași listă de camere ca A. Așteptat: prezent (sesiune U1 activă).
SERVER verifică: /admin/test: 2 sesiuni active pentru U1 și 2 dispozitive (A, B), ambele pe LAN. Așteptat: prezent (2 sesiuni, 2 dispozitive).
IOS confirmă pe telefoane starea locală și cursorul seq din modul de diagnostic.
Dovada: Captură /admin/test cu A și B conectate: user, rețea, ultimul seq.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scanează și salvează camera Birou, fără obiecte. Pe B cronometrăm: camera trebuie să apară în cel mult zece secunde.”
Telefon A: Scanează camera „Birou” fără obiecte și o salvează. Notează ora salvării. Așteptat: prezent („Birou” salvată).
Telefon B: Nu face nimic. „Birou” trebuie să apară în cel mult 10 s. Notează ora apariției. Așteptat: în tranzit, apoi prezent (apare în ≤ 10 s).
SERVER verifică: Rând nou pentru „Birou”, cu seq = N. Notăm N pentru pașii următori. Așteptat: prezent (rând nou, seq = N).
IOS confirmă pe telefoane starea locală și cursorul seq din modul de diagnostic.
Dovada: Valoarea seq = N, ora salvării pe A și ora apariției pe B.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detectează cinci obiecte și le salvează. Pe B comparăm lista: aceleași clase, aceleași poziții relative. IOS citește eroarea de poziție.”
Telefon A: Detectează 5 obiecte (cană, laptop, scaun, carte, monitor) și le salvează. Așteptat: prezent (5 obiecte salvate).
Telefon B: Cele 5 obiecte apar, cu aceleași clase și aceleași poziții relative. Se notează eroarea de poziție. Așteptat: în tranzit, apoi prezent (5 din 5, aceleași clase).
SERVER verifică: 5 obiecte noi în „Birou”, toate cu seq mai mare decât N. Așteptat: prezent (5 rânduri, seq &gt; N).
IOS confirmă pe telefoane starea locală și cursorul seq din modul de diagnostic.
Dovada: Lista obiectelor de pe A față de B: clasă, poziție, eroarea raportată.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„Acum sensul invers: B adaugă un obiect, sticlă. Îl urmărim pe A.”
Telefon A: Nu face nimic. Urmărește lista din „Birou”: „sticlă” trebuie să apară. Așteptat: în tranzit, apoi prezent („sticlă” apare).
Telefon B: Adaugă în „Birou” un obiect nou, „sticlă”, și îl salvează. Așteptat: prezent („sticlă” salvată).
SERVER verifică: Rând nou pentru „sticlă”, cu un seq nou, mai mare decât cele din T-L03. Așteptat: prezent (seq nou).
IOS confirmă pe telefoane starea locală și cursorul seq din modul de diagnostic.
Dovada: Fără dovadă separată în plan. Se notează seq-ul nou și ora apariției pe A.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„B redenumește un obiect. Pe A trebuie să vedem numele nou, iar pe server un singur rând, nu două.”
Telefon A: Urmărește obiectul: trebuie să afișeze numele nou, fără o a doua copie. Așteptat: în tranzit, apoi prezent (numele nou).
Telefon B: Redenumește un obiect (de exemplu „cană” în „cana mea”) și salvează. Așteptat: prezent (numele nou).
SERVER verifică: Un singur rând pentru obiect, cu numele nou și seq nou. Niciun duplicat. Așteptat: prezent (1 rând, fără duplicat).
IOS confirmă pe telefoane starea locală și cursorul seq din modul de diagnostic.
Dovada: Fără dovadă separată în plan. În /admin/test se arată că obiectul are un singur rând.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șterge un obiect. Pe B trebuie să lipsească. Pe server nu dispare: rămâne în istoric, marcat ca șters.”
Telefon A: Șterge un obiect din „Birou” (de exemplu „carte”). Așteptat: lipsă (obiectul lipsește).
Telefon B: Obiectul trebuie să dispară din listă (tombstone aplicat). Așteptat: lipsă (obiectul lipsește).
SERVER verifică: Obiectul e marcat șters (tombstone), dar rămâne în istoric. Nu e șters fizic. Așteptat: prezent (marcat șters, în istoric).
IOS confirmă pe telefoane starea locală și cursorul seq din modul de diagnostic.
Dovada: Fără dovadă separată în plan. În /admin/test se arată rândul marcat șters.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„Testul de conflict. La trei, amândoi modificați același obiect. Unu, doi, trei. Așteptăm un 409 și apoi aceeași stare finală pe ambele telefoane.”
Telefon A: La semnalul moderatorului, modifică obiectul X (de exemplu poziția). Așteptat: în tranzit, apoi prezent (stare finală = server).
Telefon B: În aceeași secundă, modifică același obiect X (de exemplu numele). Așteptat: în tranzit, apoi prezent (stare finală = server).
SERVER verifică: Unul dintre telefoane primește 409 și reconciliază. La final: aceeași stare pe A, B și server. Așteptat: prezent (409 pentru unul).
IOS confirmă pe telefoane starea locală și cursorul seq din modul de diagnostic.
Dovada: Hash-ul de stare de pe A este egal cu cel de pe B (din modul de diagnostic).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fotografiază un obiect. Comparăm amprenta sha256 a fotografiei pe A, pe B și pe server.”
Telefon A: Fotografiază un obiect (de exemplu monitorul) și salvează fotografia. Așteptat: prezent (foto locală, sha256).
Telefon B: Fotografia apare la același obiect, cu sha256 identic cu cel de pe A. Așteptat: în tranzit, apoi prezent (sha256 identic).
SERVER verifică: Blob publicat. sha256 stocat = sha256 trimis de A. Așteptat: prezent (blob publicat).
IOS confirmă pe telefoane starea locală și cursorul seq din modul de diagnostic.
Dovada: sha256 de pe A, de pe B și de pe server. Toate trei trebuie să fie identice.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salvează harta camerei. B o primește, se relocalizează și trebuie să vadă obiectele exact unde sunt în cameră.”
Telefon A: Salvează harta camerei „Birou” (worldmap.armap). Așteptat: prezent (hartă salvată).
Telefon B: Harta apare. B se relocalizează în cameră și vede obiectele la locul lor. Așteptat: în tranzit, apoi prezent (relocalizat, obiecte la loc).
SERVER verifică: Harta e stocată și atașată camerei „Birou”. Așteptat: prezent (hartă stocată).
IOS confirmă pe telefoane starea locală și cursorul seq din modul de diagnostic.
Dovada: Captură de pe B cu obiectele afișate la locul lor după relocalizare.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urcă un clip video. Pe server urmărim jobul de la uploaded la done, apoi rezultatul pe B.”
Telefon A: Filmează un clip video al camerei și îl urcă. Așteptat: prezent (clip urcat).
Telefon B: După procesare, vede rezultatul reprocesării (detecțiile noi). Așteptat: în tranzit, apoi prezent (rezultat după done).
SERVER verifică: Jobul trece din uploaded în done, cu detecții. Așteptat: în tranzit, apoi prezent (uploaded → done).
IOS confirmă pe telefoane starea locală și cursorul seq din modul de diagnostic.
Dovada: Id-ul jobului de reprocesare.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pornește fluxurile brute pentru două minute. Pe /scena/fluxuri/ trebuie să vedem live imagine, adâncime, IMU și audio.”
Telefon A: Pornește fluxurile brute (scenă) și le lasă 2 minute, apoi le oprește. Așteptat: prezent (fluxuri trimise).
Telefon B: Nu participă la acest pas. Așteptat: nu participă.
SERVER verifică: /scena/fluxuri/: live RGB, depth, IMU și audio. sha256 trimis = stocat. Contoarele de cadre netrimise afișate. Așteptat: prezent (sha256 trimis = stocat).
IOS confirmă pe telefoane starea locală și cursorul seq din modul de diagnostic.
Dovada: Contoarele: cadre trimise, stocate și netrimise.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„Trecem pe site. Intrăm în Birou în vizualizarea 3D și dăm clic pe un obiect: trebuie să vedem detaliile și cadrele brute din care a fost detectat.”
Telefon A: Nu participă. Ține „Birou” nemodificat. Așteptat: nu participă.
Telefon B: Nu participă. Ține „Birou” nemodificat. Așteptat: nu participă.
SERVER verifică: Pe site, /scena/: navigare 3D în „Birou”. Obiectele sunt clicabile, cu detalii și cadrele brute sursă. Așteptat: prezent (obiecte clicabile).
IOS confirmă pe telefoane starea locală și cursorul seq din modul de diagnostic.
Dovada: Captură /scena/ cu un obiect selectat și cadrele lui brute.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„Fiecare telefon folosește câteva funcții. În /admin/ trebuie să le vedem live, separat pentru A și pentru B.”
Telefon A: Folosește câteva funcții: deschide camera, detectează, fotografiază. Așteptat: prezent (evenimente trimise).
Telefon B: Folosește alte funcții: redenumire, hartă. Așteptat: prezent (evenimente trimise).
SERVER verifică: /admin/ arată live funcțiile aplicate de A și de B, separat pe dispozitiv. Așteptat: prezent (A și B separate).
IOS confirmă pe telefoane starea locală și cursorul seq din modul de diagnostic.
Dovada: Captură /admin/ cu telemetria lui A și a lui B, separat.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exportă camera Birou ca pachet în magazie. B îl importă ca și cum ar fi alt robot. Comparăm hash-urile.”
Telefon A: Exportă „Birou” în magazie ca pachet. Așteptat: prezent (pachet exportat).
Telefon B: Importă pachetul ca „alt robot”. Compară obiectele, hash-urile și pozițiile cu A. Așteptat: în tranzit, apoi prezent (aceleași obiecte și hash-uri).
SERVER verifică: Pachetul e în magazie. Importul creează aceleași obiecte, cu aceleași hash-uri și poziții relative. Așteptat: prezent (pachet în magazie).
IOS confirmă pe telefoane starea locală și cursorul seq din modul de diagnostic.
Dovada: Hash-urile obiectelor din pachet: A față de B.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„Ultimul pas din F4: sunete. Bate cineva la ușă, apoi pornim un aparat. Pe /scena/sunete/ trebuie să apară ambele evenimente, clasificate.”
Telefon A: Ține fluxul audio activ în „Birou”. Cineva bate la ușă, apoi pornește un aparat. Așteptat: prezent (audio trimis).
Telefon B: Nu participă la acest pas. Așteptat: nu participă.
SERVER verifică: Evenimentele sonore apar clasificate în /scena/sunete/, legate de camera „Birou”. Așteptat: prezent (2 evenimente clasificate).
IOS confirmă pe telefoane starea locală și cursorul seq din modul de diagnostic.
Dovada: Captură /scena/sunete/ cu cele două evenimente.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„Trecem la F5 · Doi useri: izolarea datelor. B trece pe contul U2. Ce e al lui U1 trebuie să lipsească pentru U2, și invers. 4 pași, T-U01…T-U04.”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„Începem izolarea. B iese din cont și intră cu U2. Pe B nu trebuie să vedem nimic din ce a făcut U1.”
Telefon A: Rămâne logat cu U1 și nu face nimic. Datele lui U1 rămân neatinse. Așteptat: prezent (datele U1 neatinse).
Telefon B: Se deloghează și intră cu U2. Nu trebuie să vadă nimic din datele lui U1. Așteptat: lipsă (nimic din U1).
SERVER verifică: /admin/test: B apare acum cu userul U2, iar A rămâne pe U1. Așteptat: prezent (B = U2).
IOS confirmă pe telefoane starea locală și cursorul seq din modul de diagnostic.
Dovada: Captură de pe B cu lista goală a lui U2 și /admin/test cu userii.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„U2 creează camera Hol. Pe A, care e U1, camera Hol trebuie să lipsească.”
Telefon A: (U1) Urmărește lista de camere: „Hol” nu trebuie să apară. Așteptat: lipsă („Hol” lipsește).
Telefon B: (U2) Scanează și salvează camera „Hol”. Așteptat: prezent („Hol” salvată).
SERVER verifică: Rândurile pentru „Hol” au user_id = U2. Așteptat: prezent (user_id = U2).
IOS confirmă pe telefoane starea locală și cursorul seq din modul de diagnostic.
Dovada: Lista de camere de pe A și rândul „Hol” cu user_id U2.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„SERVER face un test negativ: cu tokenul lui U2 cere un obiect al lui U1. Trebuie refuzat, fără nicio dată scursă.”
Telefon A: Nu participă la acest pas. Așteptat: nu participă.
Telefon B: Nu participă. Cererea se face cu tokenul lui U2. Așteptat: nu participă.
SERVER verifică: U2 cere un obiect al lui U1 după id. Răspuns așteptat: 404 sau 403, zero scurgeri. Așteptat: lipsă (404 / 403, zero date).
IOS confirmă pe telefoane starea locală și cursorul seq din modul de diagnostic.
Dovada: Cererea și răspunsul: cod 404/403, corp fără date ale lui U1.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„Dacă aplicația are partajare, U1 partajează un singur pachet cu U2. Dacă nu are, marcăm NOT RUN și mergem mai departe.”
Telefon A: (U1) Partajează explicit un pachet din magazie cu U2. Dacă funcția nu există: NOT RUN. Așteptat: prezent (pachet partajat).
Telefon B: (U2) Vede doar pachetul partajat. Restul datelor lui U1 lipsesc. Așteptat: prezent (doar pachetul).
SERVER verifică: Partajarea e înregistrată doar pentru acel pachet. Nimic altceva nu devine vizibil pentru U2. Așteptat: prezent (un singur pachet).
IOS confirmă pe telefoane starea locală și cursorul seq din modul de diagnostic.
Dovada: Captură magazie pe B cu un singur pachet vizibil. Fără funcție: NOT RUN.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„Trecem la F6 · WAN, în afara rețelei locale. Telefoanele trec pe 4G/5G sau pe alt Wi-Fi și lucrează prin https://3dscan.eva-org.com. 4 pași, T-W01…T-W04.”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oprește Wi-Fi și trece pe date mobile. Modul de diagnostic trebuie să arate WAN, iar login și sync să meargă prin 3dscan.eva-org.com.”
Telefon A: Oprește Wi-Fi și trece pe 4G/5G. Verifică login și sync. Așteptat: prezent (diagnostic: WAN).
Telefon B: Rămâne pe Wi-Fi-ul LAN și lucrează normal. Așteptat: prezent (sync normal).
SERVER verifică: /admin/test: A apare cu rețea WAN, conectat prin https://3dscan.eva-org.com. Așteptat: prezent (A = WAN).
IOS confirmă pe telefoane starea locală și cursorul seq din modul de diagnostic.
Dovada: Captură din modul de diagnostic pe A (WAN) și din /admin/test.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„Refacem pașii de bază din F4, de la T-L02 la T-L06, dar cu A pe date mobile. Notăm latența la fiecare pas.”
Telefon A: Pe 4G: refă pașii T-L02…T-L06 (cameră, obiecte, adăugare, redenumire, ștergere). Așteptat: prezent (pași refăcuți).
Telefon B: Pe Wi-Fi LAN: aceleași rezultate ca în F4. Notează timpii de apariție. Așteptat: în tranzit, apoi prezent (aceleași rezultate).
SERVER verifică: Aceleași rânduri și seq ca în F4. Latența și timpul de sync măsurate la fiecare pas. Așteptat: prezent (latență măsurată).
IOS confirmă pe telefoane starea locală și cursorul seq din modul de diagnostic.
Dovada: Tabelul cu latența și timpul de sync, pas cu pas.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„Fluxurile brute peste internet, prin tunel. Nu ne interesează doar dacă merge, ci cifrele reale: debit, latență, cadre pierdute.”
Telefon A: Pe 4G, pornește fluxurile brute 2 minute (WebSocket prin Cloudflare Tunnel). Așteptat: prezent (fluxuri trimise).
Telefon B: Nu participă la acest pas. Așteptat: nu participă.
SERVER verifică: Fluxul funcționează. Debitul real, latența și cadrele netrimise sunt măsurate și raportate onest. Așteptat: prezent (debit și latență).
IOS confirmă pe telefoane starea locală și cursorul seq din modul de diagnostic.
Dovada: Debitul real, latența și numărul de cadre netrimise.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„Acum și B iese din rețeaua locală, pe un hotspot. Ambele telefoane lucrează doar prin internet.”
Telefon A: Rămâne pe 4G/5G. Așteptat: prezent (WAN).
Telefon B: Trece pe altă rețea Wi-Fi (de exemplu un hotspot). Login, sync și fluxuri: idem. Așteptat: prezent (WAN pe hotspot).
SERVER verifică: Ambele telefoane apar ca WAN. Sync și fluxuri funcționale. Așteptat: prezent (A și B = WAN).
IOS confirmă pe telefoane starea locală și cursorul seq din modul de diagnostic.
Dovada: Captură /admin/test cu A și B pe WAN și latențele lor.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„Trecem la F7 · Reziliență. Offline și online, schimbarea rețelei, oprirea aplicației, restartul serverului, backup. 5 pași, T-R01…T-R05.”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intră în mod avion și modifică trei obiecte. Când revine online, toate trei trebuie să ajungă la B, deși au ora de modificare veche.”
Telefon A: Trece în mod avion, modifică 3 obiecte, apoi revine online. Așteptat: în tranzit, apoi prezent (în coadă, apoi trimise).
Telefon B: Cele 3 modificări apar după ce A revine online. Așteptat: în tranzit, apoi prezent (3 din 3).
SERVER verifică: Primește cele 3 modificări cu seq nou, chiar dacă updated_at e vechi (scenariul C07). Așteptat: prezent (seq nou).
IOS confirmă pe telefoane starea locală și cursorul seq din modul de diagnostic.
Dovada: Cele 3 seq-uri noi, alături de updated_at-urile vechi.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„Cu fluxurile pornite, A pierde Wi-Fi-ul. Trebuie să se reconecteze singur pe 4G, iar serverul să marcheze golul și motivul.”
Telefon A: Cu fluxurile pornite, oprește Wi-Fi. Telefonul trece singur pe 4G. Așteptat: în tranzit, apoi prezent (reconectare automată).
Telefon B: Nu participă la acest pas. Așteptat: nu participă.
SERVER verifică: Golul e marcat cu motiv. Nimic din ce s-a trimis nu se pierde. Așteptat: prezent (gol marcat cu motiv).
IOS confirmă pe telefoane starea locală și cursorul seq din modul de diagnostic.
Dovada: Golul marcat (interval și motiv) și contoarele de cadre.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 pornește un upload și închidem forțat aplicația. La repornire, upload-ul se reia și nu apare de două ori.”
Telefon A: Pornește un upload (de exemplu un clip), oprește forțat aplicația, apoi o repornește. Așteptat: în tranzit, apoi prezent (upload reluat).
Telefon B: Vede rezultatul o singură dată, fără duplicate. Așteptat: prezent (o singură dată).
SERVER verifică: Upload-ul se reia. Un singur rând, datorită idempotency_key. Așteptat: prezent (fără duplicate).
IOS confirmă pe telefoane starea locală și cursorul seq din modul de diagnostic.
Dovada: idempotency_key și numărul de rânduri (trebuie să fie 1).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„SERVER repornește serviciul aplicației. Telefoanele continuă să lucreze și trebuie să reia sync-ul fără să piardă nimic.”
Telefon A: Continuă să folosească aplicația în timpul restartului. Așteptat: în tranzit, apoi prezent (sync reluat).
Telefon B: Continuă să folosească aplicația în timpul restartului. Așteptat: în tranzit, apoi prezent (sync reluat).
SERVER verifică: SERVER repornește serviciul app. După revenire: nicio modificare pierdută. Așteptat: prezent (fără pierderi).
IOS confirmă pe telefoane starea locală și cursorul seq din modul de diagnostic.
Dovada: Ora restartului și seq-ul de dinainte și de după.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„Ultimul pas: backup din /admin/ cu Salvare acum, în timp ce telefoanele lucrează. Verificăm sha256 și descărcarea.”
Telefon A: Continuă să lucreze: modificări, fotografii. Așteptat: prezent (lucru normal).
Telefon B: Continuă să lucreze: modificări, fotografii. Așteptat: prezent (lucru normal).
SERVER verifică: În /admin/: Salvare acum. Backupul e complet, cu sha256, și se poate descărca. Așteptat: prezent (backup cu sha256).
IOS confirmă pe telefoane starea locală și cursorul seq din modul de diagnostic.
Dovada: Numele backupului, sha256 și descărcarea reușită.
Apoi: „SERVER, IOS: PASS, FAIL sau NOT RUN?” Se bifează în /admin/test, cu ora. Fără dovadă, pasul rămâne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„Așa citim panoul. Coloanele sunt telefoanele A și B și serverul, cu userul, rețeaua, ultimul seq aplicat și latența. Rândurile sunt camerele și obiectele. Verde înseamnă prezent, roșu lipsă, galben în tranzit. Un semn galben care nu devine verde în zece secunde este FAIL. Butoanele PASS, FAIL și NOT RUN salvează rezultatul pasului curent în raport, cu ora.”
Datele din machetă sunt doar ilustrative. Telefoanele trimit lista lor locală (id + hash) prin evenimentul inventory_snapshot.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„Fiecare pas primește PASS, FAIL sau NOT RUN chiar acum, în panou. După sesiune, ambele echipe își pun dovezile în raport, iar raportul se comite pe main. Orice FAIL devine o sarcină P0 și îl re-testăm separat. Proprietarul primește un rezumat scurt.”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Moderatorul spune: „Completăm împreună tabelul: pentru fiecare fază, câte teste au trecut, câte au picat și câte n-au rulat. Toate FAIL-urile devin sarcini P0. Raportul final îl semnează ambele echipe.”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U">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5544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Titlu</a:t>
            </a:r>
            <a:endParaRPr lang="en-US" sz="4400" dirty="0"/>
          </a:p>
        </p:txBody>
      </p:sp>
      <p:sp>
        <p:nvSpPr>
          <p:cNvPr id="3" name="Text 0"/>
          <p:cNvSpPr/>
          <p:nvPr>
            <p:ph idx="101" type="body" hasCustomPrompt="1"/>
          </p:nvPr>
        </p:nvSpPr>
        <p:spPr>
          <a:xfrm>
            <a:off x="731520" y="3931920"/>
            <a:ext cx="10058400" cy="91440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r>
              <a:rPr lang="en-US" sz="2000" dirty="0">
                <a:solidFill>
                  <a:schemeClr val="bg2"/>
                </a:solidFill>
                <a:latin typeface="Calibri" pitchFamily="34" charset="0"/>
                <a:ea typeface="Calibri" pitchFamily="34" charset="-122"/>
                <a:cs typeface="Calibri" pitchFamily="34" charset="-120"/>
              </a:rPr>
              <a:t>Subtitlu</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UNE">
    <p:bg>
      <p:bgPr>
        <a:solidFill>
          <a:schemeClr val="accent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94560" y="2240280"/>
            <a:ext cx="932688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r>
              <a:rPr lang="en-US" sz="4000" b="1" dirty="0">
                <a:solidFill>
                  <a:schemeClr val="bg1"/>
                </a:solidFill>
                <a:latin typeface="Cambria" pitchFamily="34" charset="0"/>
                <a:ea typeface="Cambria" pitchFamily="34" charset="-122"/>
                <a:cs typeface="Cambria" pitchFamily="34" charset="-120"/>
              </a:rPr>
              <a:t>Secțiune</a:t>
            </a:r>
            <a:endParaRPr lang="en-US" sz="4000" dirty="0"/>
          </a:p>
        </p:txBody>
      </p:sp>
      <p:sp>
        <p:nvSpPr>
          <p:cNvPr id="3" name="Text 0"/>
          <p:cNvSpPr/>
          <p:nvPr>
            <p:ph idx="101" type="body" hasCustomPrompt="1"/>
          </p:nvPr>
        </p:nvSpPr>
        <p:spPr>
          <a:xfrm>
            <a:off x="2194560" y="3611880"/>
            <a:ext cx="9144000" cy="109728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r>
              <a:rPr lang="en-US" sz="2000" dirty="0">
                <a:solidFill>
                  <a:schemeClr val="bg2"/>
                </a:solidFill>
                <a:latin typeface="Calibri" pitchFamily="34" charset="0"/>
                <a:ea typeface="Calibri" pitchFamily="34" charset="-122"/>
                <a:cs typeface="Calibri" pitchFamily="34" charset="-120"/>
              </a:rPr>
              <a:t>Descriere</a:t>
            </a: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INU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r>
              <a:rPr lang="en-US" sz="3600" b="1" dirty="0">
                <a:solidFill>
                  <a:schemeClr val="tx1"/>
                </a:solidFill>
                <a:latin typeface="Cambria" pitchFamily="34" charset="0"/>
                <a:ea typeface="Cambria" pitchFamily="34" charset="-122"/>
                <a:cs typeface="Cambria" pitchFamily="34" charset="-120"/>
              </a:rPr>
              <a:t>Titlu</a:t>
            </a:r>
            <a:endParaRPr lang="en-US" sz="3600" dirty="0"/>
          </a:p>
        </p:txBody>
      </p:sp>
      <p:sp>
        <p:nvSpPr>
          <p:cNvPr id="3" name="Text 0"/>
          <p:cNvSpPr/>
          <p:nvPr/>
        </p:nvSpPr>
        <p:spPr>
          <a:xfrm>
            <a:off x="457200" y="6355080"/>
            <a:ext cx="731520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EVA 3D Scan · Test final · 3dscan.eva-org.com</a:t>
            </a:r>
            <a:endParaRPr lang="en-US" sz="12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ES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r>
              <a:rPr lang="en-US" sz="3600" b="1" dirty="0">
                <a:solidFill>
                  <a:schemeClr val="tx1"/>
                </a:solidFill>
                <a:latin typeface="Cambria" pitchFamily="34" charset="0"/>
                <a:ea typeface="Cambria" pitchFamily="34" charset="-122"/>
                <a:cs typeface="Cambria" pitchFamily="34" charset="-120"/>
              </a:rPr>
              <a:t>Titlu</a:t>
            </a:r>
            <a:endParaRPr lang="en-US" sz="3600" dirty="0"/>
          </a:p>
        </p:txBody>
      </p:sp>
      <p:sp>
        <p:nvSpPr>
          <p:cNvPr id="3" name="Text 0"/>
          <p:cNvSpPr/>
          <p:nvPr/>
        </p:nvSpPr>
        <p:spPr>
          <a:xfrm>
            <a:off x="457200" y="6355080"/>
            <a:ext cx="7315200" cy="274320"/>
          </a:xfrm>
          <a:prstGeom prst="rect">
            <a:avLst/>
          </a:prstGeom>
          <a:noFill/>
          <a:ln/>
        </p:spPr>
        <p:txBody>
          <a:bodyPr wrap="square" lIns="0" tIns="0" rIns="0" bIns="0" rtlCol="0" anchor="ctr"/>
          <a:lstStyle/>
          <a:p>
            <a:pPr indent="0" marL="0">
              <a:buNone/>
            </a:pPr>
            <a:r>
              <a:rPr lang="en-US" sz="1200" dirty="0">
                <a:solidFill>
                  <a:schemeClr val="tx2"/>
                </a:solidFill>
                <a:latin typeface="Calibri" pitchFamily="34" charset="0"/>
                <a:ea typeface="Calibri" pitchFamily="34" charset="-122"/>
                <a:cs typeface="Calibri" pitchFamily="34" charset="-120"/>
              </a:rPr>
              <a:t>EVA 3D Scan · Test final · 3dscan.eva-org.com</a:t>
            </a:r>
            <a:endParaRPr lang="en-US" sz="12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5.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5.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5.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5.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5.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5.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5.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5.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5.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5.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5.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5.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5.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5.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5.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5.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5.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5.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5.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4.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10698480" cy="15544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Test final EVA 3D Scan: două telefoane, LAN și WAN</a:t>
            </a:r>
            <a:endParaRPr lang="en-US" sz="4400" dirty="0"/>
          </a:p>
        </p:txBody>
      </p:sp>
      <p:sp>
        <p:nvSpPr>
          <p:cNvPr id="3" name="Text 0"/>
          <p:cNvSpPr/>
          <p:nvPr>
            <p:ph idx="101" type="body" hasCustomPrompt="1"/>
          </p:nvPr>
        </p:nvSpPr>
        <p:spPr>
          <a:xfrm>
            <a:off x="731520" y="3931920"/>
            <a:ext cx="10058400" cy="91440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Sesiunea live, pas cu pas: ce faci pe telefonul A, ce vezi pe telefonul B, ce confirmă serverul. Proprietar + echipele SERVER și IOS · https://3dscan.eva-org.com</a:t>
            </a:r>
            <a:endParaRPr lang="en-US" sz="2000" dirty="0"/>
          </a:p>
        </p:txBody>
      </p:sp>
      <p:sp>
        <p:nvSpPr>
          <p:cNvPr id="4" name="Telefon A cerc"/>
          <p:cNvSpPr/>
          <p:nvPr/>
        </p:nvSpPr>
        <p:spPr>
          <a:xfrm>
            <a:off x="731520" y="1097280"/>
            <a:ext cx="731520" cy="731520"/>
          </a:xfrm>
          <a:prstGeom prst="ellipse">
            <a:avLst/>
          </a:prstGeom>
          <a:solidFill>
            <a:schemeClr val="accent1"/>
          </a:solidFill>
          <a:ln/>
        </p:spPr>
      </p:sp>
      <p:pic>
        <p:nvPicPr>
          <p:cNvPr id="5" name="Telefon A icon" descr="Telefon A">    </p:cNvPr>
          <p:cNvPicPr>
            <a:picLocks noChangeAspect="1"/>
          </p:cNvPicPr>
          <p:nvPr/>
        </p:nvPicPr>
        <p:blipFill>
          <a:blip r:embed="rId1"/>
          <a:stretch>
            <a:fillRect/>
          </a:stretch>
        </p:blipFill>
        <p:spPr>
          <a:xfrm>
            <a:off x="929030" y="1294790"/>
            <a:ext cx="336499" cy="336499"/>
          </a:xfrm>
          <a:prstGeom prst="rect">
            <a:avLst/>
          </a:prstGeom>
        </p:spPr>
      </p:pic>
      <p:sp>
        <p:nvSpPr>
          <p:cNvPr id="6" name="Telefon B cerc"/>
          <p:cNvSpPr/>
          <p:nvPr/>
        </p:nvSpPr>
        <p:spPr>
          <a:xfrm>
            <a:off x="1691640" y="1097280"/>
            <a:ext cx="731520" cy="731520"/>
          </a:xfrm>
          <a:prstGeom prst="ellipse">
            <a:avLst/>
          </a:prstGeom>
          <a:solidFill>
            <a:schemeClr val="accent2"/>
          </a:solidFill>
          <a:ln/>
        </p:spPr>
      </p:sp>
      <p:pic>
        <p:nvPicPr>
          <p:cNvPr id="7" name="Telefon B icon" descr="Telefon B">    </p:cNvPr>
          <p:cNvPicPr>
            <a:picLocks noChangeAspect="1"/>
          </p:cNvPicPr>
          <p:nvPr/>
        </p:nvPicPr>
        <p:blipFill>
          <a:blip r:embed="rId2"/>
          <a:stretch>
            <a:fillRect/>
          </a:stretch>
        </p:blipFill>
        <p:spPr>
          <a:xfrm>
            <a:off x="1889150" y="1294790"/>
            <a:ext cx="336499" cy="336499"/>
          </a:xfrm>
          <a:prstGeom prst="rect">
            <a:avLst/>
          </a:prstGeom>
        </p:spPr>
      </p:pic>
      <p:sp>
        <p:nvSpPr>
          <p:cNvPr id="8" name="Server cerc"/>
          <p:cNvSpPr/>
          <p:nvPr/>
        </p:nvSpPr>
        <p:spPr>
          <a:xfrm>
            <a:off x="2651760" y="1097280"/>
            <a:ext cx="731520" cy="731520"/>
          </a:xfrm>
          <a:prstGeom prst="ellipse">
            <a:avLst/>
          </a:prstGeom>
          <a:solidFill>
            <a:schemeClr val="bg1"/>
          </a:solidFill>
          <a:ln/>
        </p:spPr>
      </p:sp>
      <p:pic>
        <p:nvPicPr>
          <p:cNvPr id="9" name="Server icon" descr="Server">    </p:cNvPr>
          <p:cNvPicPr>
            <a:picLocks noChangeAspect="1"/>
          </p:cNvPicPr>
          <p:nvPr/>
        </p:nvPicPr>
        <p:blipFill>
          <a:blip r:embed="rId3"/>
          <a:stretch>
            <a:fillRect/>
          </a:stretch>
        </p:blipFill>
        <p:spPr>
          <a:xfrm>
            <a:off x="2843784" y="1289304"/>
            <a:ext cx="347472" cy="347472"/>
          </a:xfrm>
          <a:prstGeom prst="rect">
            <a:avLst/>
          </a:prstGeom>
        </p:spPr>
      </p:pic>
      <p:sp>
        <p:nvSpPr>
          <p:cNvPr id="10" name="Versiune"/>
          <p:cNvSpPr txBox="1"/>
          <p:nvPr/>
        </p:nvSpPr>
        <p:spPr>
          <a:xfrm>
            <a:off x="731520" y="5989320"/>
            <a:ext cx="822960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Versiunea planului: 1, 07.10.2026 · Sarcini SRV-014 și IOS-010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Cine face ce la sesiunea live</a:t>
            </a:r>
            <a:endParaRPr lang="en-US" sz="3600" dirty="0"/>
          </a:p>
        </p:txBody>
      </p:sp>
      <p:sp>
        <p:nvSpPr>
          <p:cNvPr id="3" name="Rol Telefon A"/>
          <p:cNvSpPr/>
          <p:nvPr/>
        </p:nvSpPr>
        <p:spPr>
          <a:xfrm>
            <a:off x="457200" y="1371600"/>
            <a:ext cx="2035454" cy="3246120"/>
          </a:xfrm>
          <a:prstGeom prst="roundRect">
            <a:avLst>
              <a:gd name="adj" fmla="val 3594"/>
            </a:avLst>
          </a:prstGeom>
          <a:solidFill>
            <a:schemeClr val="bg2"/>
          </a:solidFill>
          <a:ln/>
          <a:effectLst>
            <a:outerShdw sx="100000" sy="100000" kx="0" ky="0" algn="bl" rotWithShape="0" blurRad="76200" dist="25400" dir="5400000">
              <a:srgbClr val="17323F">
                <a:alpha val="14000"/>
              </a:srgbClr>
            </a:outerShdw>
          </a:effectLst>
        </p:spPr>
      </p:sp>
      <p:sp>
        <p:nvSpPr>
          <p:cNvPr id="4" name="Telefon A cerc"/>
          <p:cNvSpPr/>
          <p:nvPr/>
        </p:nvSpPr>
        <p:spPr>
          <a:xfrm>
            <a:off x="685800" y="1645920"/>
            <a:ext cx="731520" cy="731520"/>
          </a:xfrm>
          <a:prstGeom prst="ellipse">
            <a:avLst/>
          </a:prstGeom>
          <a:solidFill>
            <a:schemeClr val="accent1"/>
          </a:solidFill>
          <a:ln/>
        </p:spPr>
      </p:sp>
      <p:pic>
        <p:nvPicPr>
          <p:cNvPr id="5" name="Telefon A icon" descr="Telefon A">    </p:cNvPr>
          <p:cNvPicPr>
            <a:picLocks noChangeAspect="1"/>
          </p:cNvPicPr>
          <p:nvPr/>
        </p:nvPicPr>
        <p:blipFill>
          <a:blip r:embed="rId1"/>
          <a:stretch>
            <a:fillRect/>
          </a:stretch>
        </p:blipFill>
        <p:spPr>
          <a:xfrm>
            <a:off x="883310" y="1843430"/>
            <a:ext cx="336499" cy="336499"/>
          </a:xfrm>
          <a:prstGeom prst="rect">
            <a:avLst/>
          </a:prstGeom>
        </p:spPr>
      </p:pic>
      <p:sp>
        <p:nvSpPr>
          <p:cNvPr id="6" name="Telefon A nume"/>
          <p:cNvSpPr txBox="1"/>
          <p:nvPr/>
        </p:nvSpPr>
        <p:spPr>
          <a:xfrm>
            <a:off x="685800" y="2514600"/>
            <a:ext cx="1578254"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Telefon A</a:t>
            </a:r>
            <a:endParaRPr lang="en-US" sz="2000" dirty="0"/>
          </a:p>
        </p:txBody>
      </p:sp>
      <p:sp>
        <p:nvSpPr>
          <p:cNvPr id="7" name="Telefon A cine"/>
          <p:cNvSpPr txBox="1"/>
          <p:nvPr/>
        </p:nvSpPr>
        <p:spPr>
          <a:xfrm>
            <a:off x="685800" y="2926080"/>
            <a:ext cx="1578254"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Proprietarul</a:t>
            </a:r>
            <a:endParaRPr lang="en-US" sz="1400" dirty="0"/>
          </a:p>
        </p:txBody>
      </p:sp>
      <p:sp>
        <p:nvSpPr>
          <p:cNvPr id="8" name="Telefon A ce"/>
          <p:cNvSpPr txBox="1"/>
          <p:nvPr/>
        </p:nvSpPr>
        <p:spPr>
          <a:xfrm>
            <a:off x="685800" y="3429000"/>
            <a:ext cx="1578254"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Execută pașii marcați „A”.</a:t>
            </a:r>
            <a:endParaRPr lang="en-US" sz="1400" dirty="0"/>
          </a:p>
        </p:txBody>
      </p:sp>
      <p:sp>
        <p:nvSpPr>
          <p:cNvPr id="9" name="Rol Telefon B"/>
          <p:cNvSpPr/>
          <p:nvPr/>
        </p:nvSpPr>
        <p:spPr>
          <a:xfrm>
            <a:off x="2766974" y="1371600"/>
            <a:ext cx="2035454" cy="3246120"/>
          </a:xfrm>
          <a:prstGeom prst="roundRect">
            <a:avLst>
              <a:gd name="adj" fmla="val 3594"/>
            </a:avLst>
          </a:prstGeom>
          <a:solidFill>
            <a:schemeClr val="bg2"/>
          </a:solidFill>
          <a:ln/>
          <a:effectLst>
            <a:outerShdw sx="100000" sy="100000" kx="0" ky="0" algn="bl" rotWithShape="0" blurRad="76200" dist="25400" dir="5400000">
              <a:srgbClr val="17323F">
                <a:alpha val="14000"/>
              </a:srgbClr>
            </a:outerShdw>
          </a:effectLst>
        </p:spPr>
      </p:sp>
      <p:sp>
        <p:nvSpPr>
          <p:cNvPr id="10" name="Telefon B cerc"/>
          <p:cNvSpPr/>
          <p:nvPr/>
        </p:nvSpPr>
        <p:spPr>
          <a:xfrm>
            <a:off x="2995574" y="1645920"/>
            <a:ext cx="731520" cy="731520"/>
          </a:xfrm>
          <a:prstGeom prst="ellipse">
            <a:avLst/>
          </a:prstGeom>
          <a:solidFill>
            <a:schemeClr val="accent2"/>
          </a:solidFill>
          <a:ln/>
        </p:spPr>
      </p:sp>
      <p:pic>
        <p:nvPicPr>
          <p:cNvPr id="11" name="Telefon B icon" descr="Telefon B">    </p:cNvPr>
          <p:cNvPicPr>
            <a:picLocks noChangeAspect="1"/>
          </p:cNvPicPr>
          <p:nvPr/>
        </p:nvPicPr>
        <p:blipFill>
          <a:blip r:embed="rId2"/>
          <a:stretch>
            <a:fillRect/>
          </a:stretch>
        </p:blipFill>
        <p:spPr>
          <a:xfrm>
            <a:off x="3193085" y="1843430"/>
            <a:ext cx="336499" cy="336499"/>
          </a:xfrm>
          <a:prstGeom prst="rect">
            <a:avLst/>
          </a:prstGeom>
        </p:spPr>
      </p:pic>
      <p:sp>
        <p:nvSpPr>
          <p:cNvPr id="12" name="Telefon B nume"/>
          <p:cNvSpPr txBox="1"/>
          <p:nvPr/>
        </p:nvSpPr>
        <p:spPr>
          <a:xfrm>
            <a:off x="2995574" y="2514600"/>
            <a:ext cx="1578254"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Telefon B</a:t>
            </a:r>
            <a:endParaRPr lang="en-US" sz="2000" dirty="0"/>
          </a:p>
        </p:txBody>
      </p:sp>
      <p:sp>
        <p:nvSpPr>
          <p:cNvPr id="13" name="Telefon B cine"/>
          <p:cNvSpPr txBox="1"/>
          <p:nvPr/>
        </p:nvSpPr>
        <p:spPr>
          <a:xfrm>
            <a:off x="2995574" y="2926080"/>
            <a:ext cx="1578254"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Proprietarul sau a doua persoană</a:t>
            </a:r>
            <a:endParaRPr lang="en-US" sz="1400" dirty="0"/>
          </a:p>
        </p:txBody>
      </p:sp>
      <p:sp>
        <p:nvSpPr>
          <p:cNvPr id="14" name="Telefon B ce"/>
          <p:cNvSpPr txBox="1"/>
          <p:nvPr/>
        </p:nvSpPr>
        <p:spPr>
          <a:xfrm>
            <a:off x="2995574" y="3429000"/>
            <a:ext cx="1578254"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Execută pașii marcați „B”.</a:t>
            </a:r>
            <a:endParaRPr lang="en-US" sz="1400" dirty="0"/>
          </a:p>
        </p:txBody>
      </p:sp>
      <p:sp>
        <p:nvSpPr>
          <p:cNvPr id="15" name="Rol SERVER"/>
          <p:cNvSpPr/>
          <p:nvPr/>
        </p:nvSpPr>
        <p:spPr>
          <a:xfrm>
            <a:off x="5076749" y="1371600"/>
            <a:ext cx="2035454" cy="3246120"/>
          </a:xfrm>
          <a:prstGeom prst="roundRect">
            <a:avLst>
              <a:gd name="adj" fmla="val 3594"/>
            </a:avLst>
          </a:prstGeom>
          <a:solidFill>
            <a:schemeClr val="bg2"/>
          </a:solidFill>
          <a:ln/>
          <a:effectLst>
            <a:outerShdw sx="100000" sy="100000" kx="0" ky="0" algn="bl" rotWithShape="0" blurRad="76200" dist="25400" dir="5400000">
              <a:srgbClr val="17323F">
                <a:alpha val="14000"/>
              </a:srgbClr>
            </a:outerShdw>
          </a:effectLst>
        </p:spPr>
      </p:sp>
      <p:sp>
        <p:nvSpPr>
          <p:cNvPr id="16" name="SERVER cerc"/>
          <p:cNvSpPr/>
          <p:nvPr/>
        </p:nvSpPr>
        <p:spPr>
          <a:xfrm>
            <a:off x="5305349" y="1645920"/>
            <a:ext cx="731520" cy="731520"/>
          </a:xfrm>
          <a:prstGeom prst="ellipse">
            <a:avLst/>
          </a:prstGeom>
          <a:solidFill>
            <a:schemeClr val="accent3"/>
          </a:solidFill>
          <a:ln/>
        </p:spPr>
      </p:sp>
      <p:pic>
        <p:nvPicPr>
          <p:cNvPr id="17" name="SERVER icon" descr="SERVER">    </p:cNvPr>
          <p:cNvPicPr>
            <a:picLocks noChangeAspect="1"/>
          </p:cNvPicPr>
          <p:nvPr/>
        </p:nvPicPr>
        <p:blipFill>
          <a:blip r:embed="rId3"/>
          <a:stretch>
            <a:fillRect/>
          </a:stretch>
        </p:blipFill>
        <p:spPr>
          <a:xfrm>
            <a:off x="5502859" y="1843430"/>
            <a:ext cx="336499" cy="336499"/>
          </a:xfrm>
          <a:prstGeom prst="rect">
            <a:avLst/>
          </a:prstGeom>
        </p:spPr>
      </p:pic>
      <p:sp>
        <p:nvSpPr>
          <p:cNvPr id="18" name="SERVER nume"/>
          <p:cNvSpPr txBox="1"/>
          <p:nvPr/>
        </p:nvSpPr>
        <p:spPr>
          <a:xfrm>
            <a:off x="5305349" y="2514600"/>
            <a:ext cx="1578254"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SERVER</a:t>
            </a:r>
            <a:endParaRPr lang="en-US" sz="2000" dirty="0"/>
          </a:p>
        </p:txBody>
      </p:sp>
      <p:sp>
        <p:nvSpPr>
          <p:cNvPr id="19" name="SERVER cine"/>
          <p:cNvSpPr txBox="1"/>
          <p:nvPr/>
        </p:nvSpPr>
        <p:spPr>
          <a:xfrm>
            <a:off x="5305349" y="2926080"/>
            <a:ext cx="1578254"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Claude pe server</a:t>
            </a:r>
            <a:endParaRPr lang="en-US" sz="1400" dirty="0"/>
          </a:p>
        </p:txBody>
      </p:sp>
      <p:sp>
        <p:nvSpPr>
          <p:cNvPr id="20" name="SERVER ce"/>
          <p:cNvSpPr txBox="1"/>
          <p:nvPr/>
        </p:nvSpPr>
        <p:spPr>
          <a:xfrm>
            <a:off x="5305349" y="3429000"/>
            <a:ext cx="1578254"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Urmărește /admin/test și jurnalele. Confirmă fiecare pas: DB, seq, sha256, evenimente.</a:t>
            </a:r>
            <a:endParaRPr lang="en-US" sz="1400" dirty="0"/>
          </a:p>
        </p:txBody>
      </p:sp>
      <p:sp>
        <p:nvSpPr>
          <p:cNvPr id="21" name="Rol IOS"/>
          <p:cNvSpPr/>
          <p:nvPr/>
        </p:nvSpPr>
        <p:spPr>
          <a:xfrm>
            <a:off x="7386523" y="1371600"/>
            <a:ext cx="2035454" cy="3246120"/>
          </a:xfrm>
          <a:prstGeom prst="roundRect">
            <a:avLst>
              <a:gd name="adj" fmla="val 3594"/>
            </a:avLst>
          </a:prstGeom>
          <a:solidFill>
            <a:schemeClr val="bg2"/>
          </a:solidFill>
          <a:ln/>
          <a:effectLst>
            <a:outerShdw sx="100000" sy="100000" kx="0" ky="0" algn="bl" rotWithShape="0" blurRad="76200" dist="25400" dir="5400000">
              <a:srgbClr val="17323F">
                <a:alpha val="14000"/>
              </a:srgbClr>
            </a:outerShdw>
          </a:effectLst>
        </p:spPr>
      </p:sp>
      <p:sp>
        <p:nvSpPr>
          <p:cNvPr id="22" name="IOS cerc"/>
          <p:cNvSpPr/>
          <p:nvPr/>
        </p:nvSpPr>
        <p:spPr>
          <a:xfrm>
            <a:off x="7615123" y="1645920"/>
            <a:ext cx="731520" cy="731520"/>
          </a:xfrm>
          <a:prstGeom prst="ellipse">
            <a:avLst/>
          </a:prstGeom>
          <a:solidFill>
            <a:schemeClr val="tx2"/>
          </a:solidFill>
          <a:ln/>
        </p:spPr>
      </p:sp>
      <p:pic>
        <p:nvPicPr>
          <p:cNvPr id="23" name="IOS icon" descr="IOS">    </p:cNvPr>
          <p:cNvPicPr>
            <a:picLocks noChangeAspect="1"/>
          </p:cNvPicPr>
          <p:nvPr/>
        </p:nvPicPr>
        <p:blipFill>
          <a:blip r:embed="rId4"/>
          <a:stretch>
            <a:fillRect/>
          </a:stretch>
        </p:blipFill>
        <p:spPr>
          <a:xfrm>
            <a:off x="7812634" y="1843430"/>
            <a:ext cx="336499" cy="336499"/>
          </a:xfrm>
          <a:prstGeom prst="rect">
            <a:avLst/>
          </a:prstGeom>
        </p:spPr>
      </p:pic>
      <p:sp>
        <p:nvSpPr>
          <p:cNvPr id="24" name="IOS nume"/>
          <p:cNvSpPr txBox="1"/>
          <p:nvPr/>
        </p:nvSpPr>
        <p:spPr>
          <a:xfrm>
            <a:off x="7615123" y="2514600"/>
            <a:ext cx="1578254"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IOS</a:t>
            </a:r>
            <a:endParaRPr lang="en-US" sz="2000" dirty="0"/>
          </a:p>
        </p:txBody>
      </p:sp>
      <p:sp>
        <p:nvSpPr>
          <p:cNvPr id="25" name="IOS cine"/>
          <p:cNvSpPr txBox="1"/>
          <p:nvPr/>
        </p:nvSpPr>
        <p:spPr>
          <a:xfrm>
            <a:off x="7615123" y="2926080"/>
            <a:ext cx="1578254"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Claude pe Mac</a:t>
            </a:r>
            <a:endParaRPr lang="en-US" sz="1400" dirty="0"/>
          </a:p>
        </p:txBody>
      </p:sp>
      <p:sp>
        <p:nvSpPr>
          <p:cNvPr id="26" name="IOS ce"/>
          <p:cNvSpPr txBox="1"/>
          <p:nvPr/>
        </p:nvSpPr>
        <p:spPr>
          <a:xfrm>
            <a:off x="7615123" y="3429000"/>
            <a:ext cx="1578254"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Urmărește modul de diagnostic și Xcode. Confirmă starea locală, cursorul seq, fluxurile.</a:t>
            </a:r>
            <a:endParaRPr lang="en-US" sz="1400" dirty="0"/>
          </a:p>
        </p:txBody>
      </p:sp>
      <p:sp>
        <p:nvSpPr>
          <p:cNvPr id="27" name="Rol Proiecția"/>
          <p:cNvSpPr/>
          <p:nvPr/>
        </p:nvSpPr>
        <p:spPr>
          <a:xfrm>
            <a:off x="9696298" y="1371600"/>
            <a:ext cx="2035454" cy="3246120"/>
          </a:xfrm>
          <a:prstGeom prst="roundRect">
            <a:avLst>
              <a:gd name="adj" fmla="val 3594"/>
            </a:avLst>
          </a:prstGeom>
          <a:solidFill>
            <a:schemeClr val="bg2"/>
          </a:solidFill>
          <a:ln/>
          <a:effectLst>
            <a:outerShdw sx="100000" sy="100000" kx="0" ky="0" algn="bl" rotWithShape="0" blurRad="76200" dist="25400" dir="5400000">
              <a:srgbClr val="17323F">
                <a:alpha val="14000"/>
              </a:srgbClr>
            </a:outerShdw>
          </a:effectLst>
        </p:spPr>
      </p:sp>
      <p:sp>
        <p:nvSpPr>
          <p:cNvPr id="28" name="Proiecția cerc"/>
          <p:cNvSpPr/>
          <p:nvPr/>
        </p:nvSpPr>
        <p:spPr>
          <a:xfrm>
            <a:off x="9924898" y="1645920"/>
            <a:ext cx="731520" cy="731520"/>
          </a:xfrm>
          <a:prstGeom prst="ellipse">
            <a:avLst/>
          </a:prstGeom>
          <a:solidFill>
            <a:schemeClr val="accent6"/>
          </a:solidFill>
          <a:ln/>
        </p:spPr>
      </p:sp>
      <p:pic>
        <p:nvPicPr>
          <p:cNvPr id="29" name="Proiecția icon" descr="Proiecția">    </p:cNvPr>
          <p:cNvPicPr>
            <a:picLocks noChangeAspect="1"/>
          </p:cNvPicPr>
          <p:nvPr/>
        </p:nvPicPr>
        <p:blipFill>
          <a:blip r:embed="rId5"/>
          <a:stretch>
            <a:fillRect/>
          </a:stretch>
        </p:blipFill>
        <p:spPr>
          <a:xfrm>
            <a:off x="10122408" y="1843430"/>
            <a:ext cx="336499" cy="336499"/>
          </a:xfrm>
          <a:prstGeom prst="rect">
            <a:avLst/>
          </a:prstGeom>
        </p:spPr>
      </p:pic>
      <p:sp>
        <p:nvSpPr>
          <p:cNvPr id="30" name="Proiecția nume"/>
          <p:cNvSpPr txBox="1"/>
          <p:nvPr/>
        </p:nvSpPr>
        <p:spPr>
          <a:xfrm>
            <a:off x="9924898" y="2514600"/>
            <a:ext cx="1578254"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Proiecția</a:t>
            </a:r>
            <a:endParaRPr lang="en-US" sz="2000" dirty="0"/>
          </a:p>
        </p:txBody>
      </p:sp>
      <p:sp>
        <p:nvSpPr>
          <p:cNvPr id="31" name="Proiecția cine"/>
          <p:cNvSpPr txBox="1"/>
          <p:nvPr/>
        </p:nvSpPr>
        <p:spPr>
          <a:xfrm>
            <a:off x="9924898" y="2926080"/>
            <a:ext cx="1578254" cy="4572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Laptop sau TV</a:t>
            </a:r>
            <a:endParaRPr lang="en-US" sz="1400" dirty="0"/>
          </a:p>
        </p:txBody>
      </p:sp>
      <p:sp>
        <p:nvSpPr>
          <p:cNvPr id="32" name="Proiecția ce"/>
          <p:cNvSpPr txBox="1"/>
          <p:nvPr/>
        </p:nvSpPr>
        <p:spPr>
          <a:xfrm>
            <a:off x="9924898" y="3429000"/>
            <a:ext cx="1578254"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Prezentarea pașilor (fișierul .ppsx), cu /admin/test alături, pe același ecran.</a:t>
            </a:r>
            <a:endParaRPr lang="en-US" sz="1400" dirty="0"/>
          </a:p>
        </p:txBody>
      </p:sp>
      <p:sp>
        <p:nvSpPr>
          <p:cNvPr id="33" name="Necesare"/>
          <p:cNvSpPr txBox="1"/>
          <p:nvPr/>
        </p:nvSpPr>
        <p:spPr>
          <a:xfrm>
            <a:off x="457200" y="4937760"/>
            <a:ext cx="11274552" cy="8229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Necesare: </a:t>
            </a:r>
            <a:pPr indent="0" marL="0">
              <a:buNone/>
            </a:pPr>
            <a:r>
              <a:rPr lang="en-US" sz="1600" dirty="0">
                <a:solidFill>
                  <a:schemeClr val="tx1"/>
                </a:solidFill>
                <a:latin typeface="Calibri" pitchFamily="34" charset="0"/>
                <a:ea typeface="Calibri" pitchFamily="34" charset="-122"/>
                <a:cs typeface="Calibri" pitchFamily="34" charset="-120"/>
              </a:rPr>
              <a:t>2 iPhone-uri cu LiDAR · cont de test U1 pe ambele telefoane · cont U2 pentru F5 · o cameră reală cu 5–10 obiecte comune (cană, laptop, scaun, sticlă, carte, monitor) · acces 4G/5G pentru F6</a:t>
            </a:r>
            <a:endParaRPr lang="en-US" sz="16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Fazele F0–F8: întâi „în gol”, apoi live</a:t>
            </a:r>
            <a:endParaRPr lang="en-US" sz="3600" dirty="0"/>
          </a:p>
        </p:txBody>
      </p:sp>
      <p:sp>
        <p:nvSpPr>
          <p:cNvPr id="3" name="Grup Pregătire"/>
          <p:cNvSpPr/>
          <p:nvPr/>
        </p:nvSpPr>
        <p:spPr>
          <a:xfrm>
            <a:off x="493776" y="1325880"/>
            <a:ext cx="1179576" cy="3886200"/>
          </a:xfrm>
          <a:prstGeom prst="roundRect">
            <a:avLst>
              <a:gd name="adj" fmla="val 7752"/>
            </a:avLst>
          </a:prstGeom>
          <a:solidFill>
            <a:schemeClr val="tx2">
              <a:alpha val="10000"/>
            </a:schemeClr>
          </a:solidFill>
          <a:ln/>
        </p:spPr>
      </p:sp>
      <p:sp>
        <p:nvSpPr>
          <p:cNvPr id="4" name="Grup eticheta Pregătire"/>
          <p:cNvSpPr txBox="1"/>
          <p:nvPr/>
        </p:nvSpPr>
        <p:spPr>
          <a:xfrm>
            <a:off x="585216" y="1417320"/>
            <a:ext cx="996696" cy="54864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Pregătire</a:t>
            </a:r>
            <a:endParaRPr lang="en-US" sz="1400" dirty="0"/>
          </a:p>
        </p:txBody>
      </p:sp>
      <p:sp>
        <p:nvSpPr>
          <p:cNvPr id="5" name="Grup Teste automate „în gol”"/>
          <p:cNvSpPr/>
          <p:nvPr/>
        </p:nvSpPr>
        <p:spPr>
          <a:xfrm>
            <a:off x="1746504" y="1325880"/>
            <a:ext cx="3685032" cy="3886200"/>
          </a:xfrm>
          <a:prstGeom prst="roundRect">
            <a:avLst>
              <a:gd name="adj" fmla="val 2481"/>
            </a:avLst>
          </a:prstGeom>
          <a:solidFill>
            <a:schemeClr val="accent3">
              <a:alpha val="10000"/>
            </a:schemeClr>
          </a:solidFill>
          <a:ln/>
        </p:spPr>
      </p:sp>
      <p:sp>
        <p:nvSpPr>
          <p:cNvPr id="6" name="Grup eticheta Teste automate „în gol”"/>
          <p:cNvSpPr txBox="1"/>
          <p:nvPr/>
        </p:nvSpPr>
        <p:spPr>
          <a:xfrm>
            <a:off x="1837944" y="1417320"/>
            <a:ext cx="3502152" cy="548640"/>
          </a:xfrm>
          <a:prstGeom prst="rect">
            <a:avLst/>
          </a:prstGeom>
          <a:noFill/>
          <a:ln/>
        </p:spPr>
        <p:txBody>
          <a:bodyPr wrap="square" lIns="0" tIns="0" rIns="0" bIns="0" rtlCol="0" anchor="ctr"/>
          <a:lstStyle/>
          <a:p>
            <a:pPr algn="ctr" indent="0" marL="0">
              <a:buNone/>
            </a:pPr>
            <a:r>
              <a:rPr lang="en-US" sz="1400" b="1" dirty="0">
                <a:solidFill>
                  <a:schemeClr val="accent3"/>
                </a:solidFill>
                <a:latin typeface="Calibri" pitchFamily="34" charset="0"/>
                <a:ea typeface="Calibri" pitchFamily="34" charset="-122"/>
                <a:cs typeface="Calibri" pitchFamily="34" charset="-120"/>
              </a:rPr>
              <a:t>Teste automate „în gol”</a:t>
            </a:r>
            <a:endParaRPr lang="en-US" sz="1400" dirty="0"/>
          </a:p>
        </p:txBody>
      </p:sp>
      <p:sp>
        <p:nvSpPr>
          <p:cNvPr id="7" name="Grup Sesiunea LIVE, cu proprietarul"/>
          <p:cNvSpPr/>
          <p:nvPr/>
        </p:nvSpPr>
        <p:spPr>
          <a:xfrm>
            <a:off x="5504688" y="1325880"/>
            <a:ext cx="4937760" cy="3886200"/>
          </a:xfrm>
          <a:prstGeom prst="roundRect">
            <a:avLst>
              <a:gd name="adj" fmla="val 2353"/>
            </a:avLst>
          </a:prstGeom>
          <a:solidFill>
            <a:schemeClr val="accent1">
              <a:alpha val="10000"/>
            </a:schemeClr>
          </a:solidFill>
          <a:ln/>
        </p:spPr>
      </p:sp>
      <p:sp>
        <p:nvSpPr>
          <p:cNvPr id="8" name="Grup eticheta Sesiunea LIVE, cu proprietarul"/>
          <p:cNvSpPr txBox="1"/>
          <p:nvPr/>
        </p:nvSpPr>
        <p:spPr>
          <a:xfrm>
            <a:off x="5596128" y="1417320"/>
            <a:ext cx="4754880" cy="548640"/>
          </a:xfrm>
          <a:prstGeom prst="rect">
            <a:avLst/>
          </a:prstGeom>
          <a:noFill/>
          <a:ln/>
        </p:spPr>
        <p:txBody>
          <a:bodyPr wrap="square" lIns="0" tIns="0" rIns="0" bIns="0" rtlCol="0" anchor="ctr"/>
          <a:lstStyle/>
          <a:p>
            <a:pPr algn="ctr" indent="0" marL="0">
              <a:buNone/>
            </a:pPr>
            <a:r>
              <a:rPr lang="en-US" sz="1400" b="1" dirty="0">
                <a:solidFill>
                  <a:schemeClr val="accent1"/>
                </a:solidFill>
                <a:latin typeface="Calibri" pitchFamily="34" charset="0"/>
                <a:ea typeface="Calibri" pitchFamily="34" charset="-122"/>
                <a:cs typeface="Calibri" pitchFamily="34" charset="-120"/>
              </a:rPr>
              <a:t>Sesiunea LIVE, cu proprietarul</a:t>
            </a:r>
            <a:endParaRPr lang="en-US" sz="1400" dirty="0"/>
          </a:p>
        </p:txBody>
      </p:sp>
      <p:sp>
        <p:nvSpPr>
          <p:cNvPr id="9" name="Grup Final"/>
          <p:cNvSpPr/>
          <p:nvPr/>
        </p:nvSpPr>
        <p:spPr>
          <a:xfrm>
            <a:off x="10515600" y="1325880"/>
            <a:ext cx="1179576" cy="3886200"/>
          </a:xfrm>
          <a:prstGeom prst="roundRect">
            <a:avLst>
              <a:gd name="adj" fmla="val 7752"/>
            </a:avLst>
          </a:prstGeom>
          <a:solidFill>
            <a:schemeClr val="accent4">
              <a:alpha val="10000"/>
            </a:schemeClr>
          </a:solidFill>
          <a:ln/>
        </p:spPr>
      </p:sp>
      <p:sp>
        <p:nvSpPr>
          <p:cNvPr id="10" name="Grup eticheta Final"/>
          <p:cNvSpPr txBox="1"/>
          <p:nvPr/>
        </p:nvSpPr>
        <p:spPr>
          <a:xfrm>
            <a:off x="10607040" y="1417320"/>
            <a:ext cx="996696" cy="548640"/>
          </a:xfrm>
          <a:prstGeom prst="rect">
            <a:avLst/>
          </a:prstGeom>
          <a:noFill/>
          <a:ln/>
        </p:spPr>
        <p:txBody>
          <a:bodyPr wrap="square" lIns="0" tIns="0" rIns="0" bIns="0" rtlCol="0" anchor="ctr"/>
          <a:lstStyle/>
          <a:p>
            <a:pPr algn="ctr" indent="0" marL="0">
              <a:buNone/>
            </a:pPr>
            <a:r>
              <a:rPr lang="en-US" sz="1400" b="1" dirty="0">
                <a:solidFill>
                  <a:schemeClr val="accent4"/>
                </a:solidFill>
                <a:latin typeface="Calibri" pitchFamily="34" charset="0"/>
                <a:ea typeface="Calibri" pitchFamily="34" charset="-122"/>
                <a:cs typeface="Calibri" pitchFamily="34" charset="-120"/>
              </a:rPr>
              <a:t>Final</a:t>
            </a:r>
            <a:endParaRPr lang="en-US" sz="1400" dirty="0"/>
          </a:p>
        </p:txBody>
      </p:sp>
      <p:sp>
        <p:nvSpPr>
          <p:cNvPr id="11" name="Flux sageata"/>
          <p:cNvSpPr/>
          <p:nvPr/>
        </p:nvSpPr>
        <p:spPr>
          <a:xfrm>
            <a:off x="1083564" y="2697480"/>
            <a:ext cx="10021824" cy="0"/>
          </a:xfrm>
          <a:prstGeom prst="line">
            <a:avLst/>
          </a:prstGeom>
          <a:noFill/>
          <a:ln w="25400">
            <a:solidFill>
              <a:schemeClr val="tx2"/>
            </a:solidFill>
            <a:prstDash val="solid"/>
            <a:tailEnd type="triangle"/>
          </a:ln>
        </p:spPr>
      </p:sp>
      <p:sp>
        <p:nvSpPr>
          <p:cNvPr id="12" name="F0 cerc"/>
          <p:cNvSpPr/>
          <p:nvPr/>
        </p:nvSpPr>
        <p:spPr>
          <a:xfrm>
            <a:off x="717804" y="2331720"/>
            <a:ext cx="731520" cy="731520"/>
          </a:xfrm>
          <a:prstGeom prst="ellipse">
            <a:avLst/>
          </a:prstGeom>
          <a:solidFill>
            <a:schemeClr val="tx2"/>
          </a:solidFill>
          <a:ln w="38100">
            <a:solidFill>
              <a:schemeClr val="bg1"/>
            </a:solidFill>
            <a:prstDash val="solid"/>
          </a:ln>
        </p:spPr>
      </p:sp>
      <p:sp>
        <p:nvSpPr>
          <p:cNvPr id="13" name="F0 nr"/>
          <p:cNvSpPr txBox="1"/>
          <p:nvPr/>
        </p:nvSpPr>
        <p:spPr>
          <a:xfrm>
            <a:off x="717804"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F0</a:t>
            </a:r>
            <a:endParaRPr lang="en-US" sz="2000" dirty="0"/>
          </a:p>
        </p:txBody>
      </p:sp>
      <p:sp>
        <p:nvSpPr>
          <p:cNvPr id="14" name="F0 nume"/>
          <p:cNvSpPr txBox="1"/>
          <p:nvPr/>
        </p:nvSpPr>
        <p:spPr>
          <a:xfrm>
            <a:off x="530352"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Precondiții</a:t>
            </a:r>
            <a:endParaRPr lang="en-US" sz="1600" dirty="0"/>
          </a:p>
        </p:txBody>
      </p:sp>
      <p:sp>
        <p:nvSpPr>
          <p:cNvPr id="15" name="F0 desc"/>
          <p:cNvSpPr txBox="1"/>
          <p:nvPr/>
        </p:nvSpPr>
        <p:spPr>
          <a:xfrm>
            <a:off x="530352"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contracte, build, conturi, /admin/test</a:t>
            </a:r>
            <a:endParaRPr lang="en-US" sz="1400" dirty="0"/>
          </a:p>
        </p:txBody>
      </p:sp>
      <p:sp>
        <p:nvSpPr>
          <p:cNvPr id="16" name="F1 cerc"/>
          <p:cNvSpPr/>
          <p:nvPr/>
        </p:nvSpPr>
        <p:spPr>
          <a:xfrm>
            <a:off x="1970532" y="2331720"/>
            <a:ext cx="731520" cy="731520"/>
          </a:xfrm>
          <a:prstGeom prst="ellipse">
            <a:avLst/>
          </a:prstGeom>
          <a:solidFill>
            <a:schemeClr val="accent3"/>
          </a:solidFill>
          <a:ln w="38100">
            <a:solidFill>
              <a:schemeClr val="bg1"/>
            </a:solidFill>
            <a:prstDash val="solid"/>
          </a:ln>
        </p:spPr>
      </p:sp>
      <p:sp>
        <p:nvSpPr>
          <p:cNvPr id="17" name="F1 nr"/>
          <p:cNvSpPr txBox="1"/>
          <p:nvPr/>
        </p:nvSpPr>
        <p:spPr>
          <a:xfrm>
            <a:off x="1970532"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F1</a:t>
            </a:r>
            <a:endParaRPr lang="en-US" sz="2000" dirty="0"/>
          </a:p>
        </p:txBody>
      </p:sp>
      <p:sp>
        <p:nvSpPr>
          <p:cNvPr id="18" name="F1 nume"/>
          <p:cNvSpPr txBox="1"/>
          <p:nvPr/>
        </p:nvSpPr>
        <p:spPr>
          <a:xfrm>
            <a:off x="1783080"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Automat server</a:t>
            </a:r>
            <a:endParaRPr lang="en-US" sz="1600" dirty="0"/>
          </a:p>
        </p:txBody>
      </p:sp>
      <p:sp>
        <p:nvSpPr>
          <p:cNvPr id="19" name="F1 desc"/>
          <p:cNvSpPr txBox="1"/>
          <p:nvPr/>
        </p:nvSpPr>
        <p:spPr>
          <a:xfrm>
            <a:off x="1783080"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simulator, 2 și 4 clienți, 100% pass</a:t>
            </a:r>
            <a:endParaRPr lang="en-US" sz="1400" dirty="0"/>
          </a:p>
        </p:txBody>
      </p:sp>
      <p:sp>
        <p:nvSpPr>
          <p:cNvPr id="20" name="F2 cerc"/>
          <p:cNvSpPr/>
          <p:nvPr/>
        </p:nvSpPr>
        <p:spPr>
          <a:xfrm>
            <a:off x="3223260" y="2331720"/>
            <a:ext cx="731520" cy="731520"/>
          </a:xfrm>
          <a:prstGeom prst="ellipse">
            <a:avLst/>
          </a:prstGeom>
          <a:solidFill>
            <a:schemeClr val="accent3"/>
          </a:solidFill>
          <a:ln w="38100">
            <a:solidFill>
              <a:schemeClr val="bg1"/>
            </a:solidFill>
            <a:prstDash val="solid"/>
          </a:ln>
        </p:spPr>
      </p:sp>
      <p:sp>
        <p:nvSpPr>
          <p:cNvPr id="21" name="F2 nr"/>
          <p:cNvSpPr txBox="1"/>
          <p:nvPr/>
        </p:nvSpPr>
        <p:spPr>
          <a:xfrm>
            <a:off x="3223260"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F2</a:t>
            </a:r>
            <a:endParaRPr lang="en-US" sz="2000" dirty="0"/>
          </a:p>
        </p:txBody>
      </p:sp>
      <p:sp>
        <p:nvSpPr>
          <p:cNvPr id="22" name="F2 nume"/>
          <p:cNvSpPr txBox="1"/>
          <p:nvPr/>
        </p:nvSpPr>
        <p:spPr>
          <a:xfrm>
            <a:off x="3035808"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Audit</a:t>
            </a:r>
            <a:endParaRPr lang="en-US" sz="1600" dirty="0"/>
          </a:p>
        </p:txBody>
      </p:sp>
      <p:sp>
        <p:nvSpPr>
          <p:cNvPr id="23" name="F2 desc"/>
          <p:cNvSpPr txBox="1"/>
          <p:nvPr/>
        </p:nvSpPr>
        <p:spPr>
          <a:xfrm>
            <a:off x="3035808"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independent, 3 lentile, 10/10</a:t>
            </a:r>
            <a:endParaRPr lang="en-US" sz="1400" dirty="0"/>
          </a:p>
        </p:txBody>
      </p:sp>
      <p:sp>
        <p:nvSpPr>
          <p:cNvPr id="24" name="F3 cerc"/>
          <p:cNvSpPr/>
          <p:nvPr/>
        </p:nvSpPr>
        <p:spPr>
          <a:xfrm>
            <a:off x="4475988" y="2331720"/>
            <a:ext cx="731520" cy="731520"/>
          </a:xfrm>
          <a:prstGeom prst="ellipse">
            <a:avLst/>
          </a:prstGeom>
          <a:solidFill>
            <a:schemeClr val="accent3"/>
          </a:solidFill>
          <a:ln w="38100">
            <a:solidFill>
              <a:schemeClr val="bg1"/>
            </a:solidFill>
            <a:prstDash val="solid"/>
          </a:ln>
        </p:spPr>
      </p:sp>
      <p:sp>
        <p:nvSpPr>
          <p:cNvPr id="25" name="F3 nr"/>
          <p:cNvSpPr txBox="1"/>
          <p:nvPr/>
        </p:nvSpPr>
        <p:spPr>
          <a:xfrm>
            <a:off x="4475988"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F3</a:t>
            </a:r>
            <a:endParaRPr lang="en-US" sz="2000" dirty="0"/>
          </a:p>
        </p:txBody>
      </p:sp>
      <p:sp>
        <p:nvSpPr>
          <p:cNvPr id="26" name="F3 nume"/>
          <p:cNvSpPr txBox="1"/>
          <p:nvPr/>
        </p:nvSpPr>
        <p:spPr>
          <a:xfrm>
            <a:off x="4288536"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Automat iOS</a:t>
            </a:r>
            <a:endParaRPr lang="en-US" sz="1600" dirty="0"/>
          </a:p>
        </p:txBody>
      </p:sp>
      <p:sp>
        <p:nvSpPr>
          <p:cNvPr id="27" name="F3 desc"/>
          <p:cNvSpPr txBox="1"/>
          <p:nvPr/>
        </p:nvSpPr>
        <p:spPr>
          <a:xfrm>
            <a:off x="4288536"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unit + UI, telefon real, 100% pass</a:t>
            </a:r>
            <a:endParaRPr lang="en-US" sz="1400" dirty="0"/>
          </a:p>
        </p:txBody>
      </p:sp>
      <p:sp>
        <p:nvSpPr>
          <p:cNvPr id="28" name="F4 cerc"/>
          <p:cNvSpPr/>
          <p:nvPr/>
        </p:nvSpPr>
        <p:spPr>
          <a:xfrm>
            <a:off x="5728716" y="2331720"/>
            <a:ext cx="731520" cy="731520"/>
          </a:xfrm>
          <a:prstGeom prst="ellipse">
            <a:avLst/>
          </a:prstGeom>
          <a:solidFill>
            <a:schemeClr val="accent1"/>
          </a:solidFill>
          <a:ln w="38100">
            <a:solidFill>
              <a:schemeClr val="bg1"/>
            </a:solidFill>
            <a:prstDash val="solid"/>
          </a:ln>
        </p:spPr>
      </p:sp>
      <p:sp>
        <p:nvSpPr>
          <p:cNvPr id="29" name="F4 nr"/>
          <p:cNvSpPr txBox="1"/>
          <p:nvPr/>
        </p:nvSpPr>
        <p:spPr>
          <a:xfrm>
            <a:off x="5728716"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F4</a:t>
            </a:r>
            <a:endParaRPr lang="en-US" sz="2000" dirty="0"/>
          </a:p>
        </p:txBody>
      </p:sp>
      <p:sp>
        <p:nvSpPr>
          <p:cNvPr id="30" name="F4 nume"/>
          <p:cNvSpPr txBox="1"/>
          <p:nvPr/>
        </p:nvSpPr>
        <p:spPr>
          <a:xfrm>
            <a:off x="5541264"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LIVE LAN</a:t>
            </a:r>
            <a:endParaRPr lang="en-US" sz="1600" dirty="0"/>
          </a:p>
        </p:txBody>
      </p:sp>
      <p:sp>
        <p:nvSpPr>
          <p:cNvPr id="31" name="F4 desc"/>
          <p:cNvSpPr txBox="1"/>
          <p:nvPr/>
        </p:nvSpPr>
        <p:spPr>
          <a:xfrm>
            <a:off x="5541264"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2 telefoane, același user</a:t>
            </a:r>
            <a:endParaRPr lang="en-US" sz="1400" dirty="0"/>
          </a:p>
        </p:txBody>
      </p:sp>
      <p:sp>
        <p:nvSpPr>
          <p:cNvPr id="32" name="F5 cerc"/>
          <p:cNvSpPr/>
          <p:nvPr/>
        </p:nvSpPr>
        <p:spPr>
          <a:xfrm>
            <a:off x="6981444" y="2331720"/>
            <a:ext cx="731520" cy="731520"/>
          </a:xfrm>
          <a:prstGeom prst="ellipse">
            <a:avLst/>
          </a:prstGeom>
          <a:solidFill>
            <a:schemeClr val="accent1"/>
          </a:solidFill>
          <a:ln w="38100">
            <a:solidFill>
              <a:schemeClr val="bg1"/>
            </a:solidFill>
            <a:prstDash val="solid"/>
          </a:ln>
        </p:spPr>
      </p:sp>
      <p:sp>
        <p:nvSpPr>
          <p:cNvPr id="33" name="F5 nr"/>
          <p:cNvSpPr txBox="1"/>
          <p:nvPr/>
        </p:nvSpPr>
        <p:spPr>
          <a:xfrm>
            <a:off x="6981444"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F5</a:t>
            </a:r>
            <a:endParaRPr lang="en-US" sz="2000" dirty="0"/>
          </a:p>
        </p:txBody>
      </p:sp>
      <p:sp>
        <p:nvSpPr>
          <p:cNvPr id="34" name="F5 nume"/>
          <p:cNvSpPr txBox="1"/>
          <p:nvPr/>
        </p:nvSpPr>
        <p:spPr>
          <a:xfrm>
            <a:off x="6793992"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Doi useri</a:t>
            </a:r>
            <a:endParaRPr lang="en-US" sz="1600" dirty="0"/>
          </a:p>
        </p:txBody>
      </p:sp>
      <p:sp>
        <p:nvSpPr>
          <p:cNvPr id="35" name="F5 desc"/>
          <p:cNvSpPr txBox="1"/>
          <p:nvPr/>
        </p:nvSpPr>
        <p:spPr>
          <a:xfrm>
            <a:off x="6793992"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izolarea datelor</a:t>
            </a:r>
            <a:endParaRPr lang="en-US" sz="1400" dirty="0"/>
          </a:p>
        </p:txBody>
      </p:sp>
      <p:sp>
        <p:nvSpPr>
          <p:cNvPr id="36" name="F6 cerc"/>
          <p:cNvSpPr/>
          <p:nvPr/>
        </p:nvSpPr>
        <p:spPr>
          <a:xfrm>
            <a:off x="8234172" y="2331720"/>
            <a:ext cx="731520" cy="731520"/>
          </a:xfrm>
          <a:prstGeom prst="ellipse">
            <a:avLst/>
          </a:prstGeom>
          <a:solidFill>
            <a:schemeClr val="accent1"/>
          </a:solidFill>
          <a:ln w="38100">
            <a:solidFill>
              <a:schemeClr val="bg1"/>
            </a:solidFill>
            <a:prstDash val="solid"/>
          </a:ln>
        </p:spPr>
      </p:sp>
      <p:sp>
        <p:nvSpPr>
          <p:cNvPr id="37" name="F6 nr"/>
          <p:cNvSpPr txBox="1"/>
          <p:nvPr/>
        </p:nvSpPr>
        <p:spPr>
          <a:xfrm>
            <a:off x="8234172"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F6</a:t>
            </a:r>
            <a:endParaRPr lang="en-US" sz="2000" dirty="0"/>
          </a:p>
        </p:txBody>
      </p:sp>
      <p:sp>
        <p:nvSpPr>
          <p:cNvPr id="38" name="F6 nume"/>
          <p:cNvSpPr txBox="1"/>
          <p:nvPr/>
        </p:nvSpPr>
        <p:spPr>
          <a:xfrm>
            <a:off x="8046720"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WAN</a:t>
            </a:r>
            <a:endParaRPr lang="en-US" sz="1600" dirty="0"/>
          </a:p>
        </p:txBody>
      </p:sp>
      <p:sp>
        <p:nvSpPr>
          <p:cNvPr id="39" name="F6 desc"/>
          <p:cNvSpPr txBox="1"/>
          <p:nvPr/>
        </p:nvSpPr>
        <p:spPr>
          <a:xfrm>
            <a:off x="8046720"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4G/5G și alt Wi-Fi</a:t>
            </a:r>
            <a:endParaRPr lang="en-US" sz="1400" dirty="0"/>
          </a:p>
        </p:txBody>
      </p:sp>
      <p:sp>
        <p:nvSpPr>
          <p:cNvPr id="40" name="F7 cerc"/>
          <p:cNvSpPr/>
          <p:nvPr/>
        </p:nvSpPr>
        <p:spPr>
          <a:xfrm>
            <a:off x="9486900" y="2331720"/>
            <a:ext cx="731520" cy="731520"/>
          </a:xfrm>
          <a:prstGeom prst="ellipse">
            <a:avLst/>
          </a:prstGeom>
          <a:solidFill>
            <a:schemeClr val="accent1"/>
          </a:solidFill>
          <a:ln w="38100">
            <a:solidFill>
              <a:schemeClr val="bg1"/>
            </a:solidFill>
            <a:prstDash val="solid"/>
          </a:ln>
        </p:spPr>
      </p:sp>
      <p:sp>
        <p:nvSpPr>
          <p:cNvPr id="41" name="F7 nr"/>
          <p:cNvSpPr txBox="1"/>
          <p:nvPr/>
        </p:nvSpPr>
        <p:spPr>
          <a:xfrm>
            <a:off x="9486900"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F7</a:t>
            </a:r>
            <a:endParaRPr lang="en-US" sz="2000" dirty="0"/>
          </a:p>
        </p:txBody>
      </p:sp>
      <p:sp>
        <p:nvSpPr>
          <p:cNvPr id="42" name="F7 nume"/>
          <p:cNvSpPr txBox="1"/>
          <p:nvPr/>
        </p:nvSpPr>
        <p:spPr>
          <a:xfrm>
            <a:off x="9299448"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Reziliență</a:t>
            </a:r>
            <a:endParaRPr lang="en-US" sz="1600" dirty="0"/>
          </a:p>
        </p:txBody>
      </p:sp>
      <p:sp>
        <p:nvSpPr>
          <p:cNvPr id="43" name="F7 desc"/>
          <p:cNvSpPr txBox="1"/>
          <p:nvPr/>
        </p:nvSpPr>
        <p:spPr>
          <a:xfrm>
            <a:off x="9299448"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offline, rețea, restart</a:t>
            </a:r>
            <a:endParaRPr lang="en-US" sz="1400" dirty="0"/>
          </a:p>
        </p:txBody>
      </p:sp>
      <p:sp>
        <p:nvSpPr>
          <p:cNvPr id="44" name="F8 cerc"/>
          <p:cNvSpPr/>
          <p:nvPr/>
        </p:nvSpPr>
        <p:spPr>
          <a:xfrm>
            <a:off x="10739628" y="2331720"/>
            <a:ext cx="731520" cy="731520"/>
          </a:xfrm>
          <a:prstGeom prst="ellipse">
            <a:avLst/>
          </a:prstGeom>
          <a:solidFill>
            <a:schemeClr val="accent4"/>
          </a:solidFill>
          <a:ln w="38100">
            <a:solidFill>
              <a:schemeClr val="bg1"/>
            </a:solidFill>
            <a:prstDash val="solid"/>
          </a:ln>
        </p:spPr>
      </p:sp>
      <p:sp>
        <p:nvSpPr>
          <p:cNvPr id="45" name="F8 nr"/>
          <p:cNvSpPr txBox="1"/>
          <p:nvPr/>
        </p:nvSpPr>
        <p:spPr>
          <a:xfrm>
            <a:off x="10739628" y="2331720"/>
            <a:ext cx="731520" cy="73152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F8</a:t>
            </a:r>
            <a:endParaRPr lang="en-US" sz="2000" dirty="0"/>
          </a:p>
        </p:txBody>
      </p:sp>
      <p:sp>
        <p:nvSpPr>
          <p:cNvPr id="46" name="F8 nume"/>
          <p:cNvSpPr txBox="1"/>
          <p:nvPr/>
        </p:nvSpPr>
        <p:spPr>
          <a:xfrm>
            <a:off x="10552176" y="3246120"/>
            <a:ext cx="1106424"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Raport</a:t>
            </a:r>
            <a:endParaRPr lang="en-US" sz="1600" dirty="0"/>
          </a:p>
        </p:txBody>
      </p:sp>
      <p:sp>
        <p:nvSpPr>
          <p:cNvPr id="47" name="F8 desc"/>
          <p:cNvSpPr txBox="1"/>
          <p:nvPr/>
        </p:nvSpPr>
        <p:spPr>
          <a:xfrm>
            <a:off x="10552176" y="3794760"/>
            <a:ext cx="1106424" cy="128016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semnat de ambele echipe</a:t>
            </a:r>
            <a:endParaRPr lang="en-US" sz="1400" dirty="0"/>
          </a:p>
        </p:txBody>
      </p:sp>
      <p:sp>
        <p:nvSpPr>
          <p:cNvPr id="48" name="Regula cerc"/>
          <p:cNvSpPr/>
          <p:nvPr/>
        </p:nvSpPr>
        <p:spPr>
          <a:xfrm>
            <a:off x="457200" y="5486400"/>
            <a:ext cx="548640" cy="548640"/>
          </a:xfrm>
          <a:prstGeom prst="ellipse">
            <a:avLst/>
          </a:prstGeom>
          <a:solidFill>
            <a:schemeClr val="accent5"/>
          </a:solidFill>
          <a:ln/>
        </p:spPr>
      </p:sp>
      <p:pic>
        <p:nvPicPr>
          <p:cNvPr id="49" name="Regula icon" descr="Regula">    </p:cNvPr>
          <p:cNvPicPr>
            <a:picLocks noChangeAspect="1"/>
          </p:cNvPicPr>
          <p:nvPr/>
        </p:nvPicPr>
        <p:blipFill>
          <a:blip r:embed="rId1"/>
          <a:stretch>
            <a:fillRect/>
          </a:stretch>
        </p:blipFill>
        <p:spPr>
          <a:xfrm>
            <a:off x="605333" y="5634533"/>
            <a:ext cx="252374" cy="252374"/>
          </a:xfrm>
          <a:prstGeom prst="rect">
            <a:avLst/>
          </a:prstGeom>
        </p:spPr>
      </p:pic>
      <p:sp>
        <p:nvSpPr>
          <p:cNvPr id="50" name="Regula text"/>
          <p:cNvSpPr txBox="1"/>
          <p:nvPr/>
        </p:nvSpPr>
        <p:spPr>
          <a:xfrm>
            <a:off x="1188720" y="5440680"/>
            <a:ext cx="10515600" cy="6400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Regula de onestitate: </a:t>
            </a:r>
            <a:pPr indent="0" marL="0">
              <a:buNone/>
            </a:pPr>
            <a:r>
              <a:rPr lang="en-US" sz="1600" dirty="0">
                <a:solidFill>
                  <a:schemeClr val="tx1"/>
                </a:solidFill>
                <a:latin typeface="Calibri" pitchFamily="34" charset="0"/>
                <a:ea typeface="Calibri" pitchFamily="34" charset="-122"/>
                <a:cs typeface="Calibri" pitchFamily="34" charset="-120"/>
              </a:rPr>
              <a:t>un pas fără dovadă este NOT RUN, nu PASS. Fiecare fază trece doar prin poarta ei (100% pass, audit 10/10, toți pașii PASS).</a:t>
            </a:r>
            <a:endParaRPr lang="en-US" sz="16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F0: precondiții de bifat înainte de start</a:t>
            </a:r>
            <a:endParaRPr lang="en-US" sz="3600" dirty="0"/>
          </a:p>
        </p:txBody>
      </p:sp>
      <p:sp>
        <p:nvSpPr>
          <p:cNvPr id="3" name="Bifa Contracte finale"/>
          <p:cNvSpPr/>
          <p:nvPr/>
        </p:nvSpPr>
        <p:spPr>
          <a:xfrm>
            <a:off x="457200" y="1435608"/>
            <a:ext cx="384048" cy="384048"/>
          </a:xfrm>
          <a:prstGeom prst="rect">
            <a:avLst/>
          </a:prstGeom>
          <a:solidFill>
            <a:schemeClr val="bg1"/>
          </a:solidFill>
          <a:ln w="22225">
            <a:solidFill>
              <a:schemeClr val="accent1"/>
            </a:solidFill>
            <a:prstDash val="solid"/>
          </a:ln>
        </p:spPr>
      </p:sp>
      <p:sp>
        <p:nvSpPr>
          <p:cNvPr id="4" name="Preconditie Contracte finale"/>
          <p:cNvSpPr txBox="1"/>
          <p:nvPr/>
        </p:nvSpPr>
        <p:spPr>
          <a:xfrm>
            <a:off x="1051560" y="1325880"/>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Contracte finale</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audit 10/10, merge și deploy</a:t>
            </a:r>
            <a:endParaRPr lang="en-US" sz="1600" dirty="0"/>
          </a:p>
        </p:txBody>
      </p:sp>
      <p:sp>
        <p:nvSpPr>
          <p:cNvPr id="5" name="Bifa Build iOS"/>
          <p:cNvSpPr/>
          <p:nvPr/>
        </p:nvSpPr>
        <p:spPr>
          <a:xfrm>
            <a:off x="457200" y="2276856"/>
            <a:ext cx="384048" cy="384048"/>
          </a:xfrm>
          <a:prstGeom prst="rect">
            <a:avLst/>
          </a:prstGeom>
          <a:solidFill>
            <a:schemeClr val="bg1"/>
          </a:solidFill>
          <a:ln w="22225">
            <a:solidFill>
              <a:schemeClr val="accent1"/>
            </a:solidFill>
            <a:prstDash val="solid"/>
          </a:ln>
        </p:spPr>
      </p:sp>
      <p:sp>
        <p:nvSpPr>
          <p:cNvPr id="6" name="Preconditie Build iOS"/>
          <p:cNvSpPr txBox="1"/>
          <p:nvPr/>
        </p:nvSpPr>
        <p:spPr>
          <a:xfrm>
            <a:off x="1051560" y="2167128"/>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Build iOS</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cu modul de diagnostic activ</a:t>
            </a:r>
            <a:endParaRPr lang="en-US" sz="1600" dirty="0"/>
          </a:p>
        </p:txBody>
      </p:sp>
      <p:sp>
        <p:nvSpPr>
          <p:cNvPr id="7" name="Bifa Conturi de test"/>
          <p:cNvSpPr/>
          <p:nvPr/>
        </p:nvSpPr>
        <p:spPr>
          <a:xfrm>
            <a:off x="457200" y="3118104"/>
            <a:ext cx="384048" cy="384048"/>
          </a:xfrm>
          <a:prstGeom prst="rect">
            <a:avLst/>
          </a:prstGeom>
          <a:solidFill>
            <a:schemeClr val="bg1"/>
          </a:solidFill>
          <a:ln w="22225">
            <a:solidFill>
              <a:schemeClr val="accent1"/>
            </a:solidFill>
            <a:prstDash val="solid"/>
          </a:ln>
        </p:spPr>
      </p:sp>
      <p:sp>
        <p:nvSpPr>
          <p:cNvPr id="8" name="Preconditie Conturi de test"/>
          <p:cNvSpPr txBox="1"/>
          <p:nvPr/>
        </p:nvSpPr>
        <p:spPr>
          <a:xfrm>
            <a:off x="1051560" y="3008376"/>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Conturi de test</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U1 pe ambele telefoane, U2 pentru F5</a:t>
            </a:r>
            <a:endParaRPr lang="en-US" sz="1600" dirty="0"/>
          </a:p>
        </p:txBody>
      </p:sp>
      <p:sp>
        <p:nvSpPr>
          <p:cNvPr id="9" name="Bifa Panoul /admin/test"/>
          <p:cNvSpPr/>
          <p:nvPr/>
        </p:nvSpPr>
        <p:spPr>
          <a:xfrm>
            <a:off x="457200" y="3959352"/>
            <a:ext cx="384048" cy="384048"/>
          </a:xfrm>
          <a:prstGeom prst="rect">
            <a:avLst/>
          </a:prstGeom>
          <a:solidFill>
            <a:schemeClr val="bg1"/>
          </a:solidFill>
          <a:ln w="22225">
            <a:solidFill>
              <a:schemeClr val="accent1"/>
            </a:solidFill>
            <a:prstDash val="solid"/>
          </a:ln>
        </p:spPr>
      </p:sp>
      <p:sp>
        <p:nvSpPr>
          <p:cNvPr id="10" name="Preconditie Panoul /admin/test"/>
          <p:cNvSpPr txBox="1"/>
          <p:nvPr/>
        </p:nvSpPr>
        <p:spPr>
          <a:xfrm>
            <a:off x="1051560" y="3849624"/>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Panoul /admin/test</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live (SSE), cu matricea prezent/lipsă</a:t>
            </a:r>
            <a:endParaRPr lang="en-US" sz="1600" dirty="0"/>
          </a:p>
        </p:txBody>
      </p:sp>
      <p:sp>
        <p:nvSpPr>
          <p:cNvPr id="11" name="Bifa inventory_snapshot"/>
          <p:cNvSpPr/>
          <p:nvPr/>
        </p:nvSpPr>
        <p:spPr>
          <a:xfrm>
            <a:off x="457200" y="4800600"/>
            <a:ext cx="384048" cy="384048"/>
          </a:xfrm>
          <a:prstGeom prst="rect">
            <a:avLst/>
          </a:prstGeom>
          <a:solidFill>
            <a:schemeClr val="bg1"/>
          </a:solidFill>
          <a:ln w="22225">
            <a:solidFill>
              <a:schemeClr val="accent1"/>
            </a:solidFill>
            <a:prstDash val="solid"/>
          </a:ln>
        </p:spPr>
      </p:sp>
      <p:sp>
        <p:nvSpPr>
          <p:cNvPr id="12" name="Preconditie inventory_snapshot"/>
          <p:cNvSpPr txBox="1"/>
          <p:nvPr/>
        </p:nvSpPr>
        <p:spPr>
          <a:xfrm>
            <a:off x="1051560" y="4690872"/>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inventory_snapshot</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telefoanele raportează id + hash local</a:t>
            </a:r>
            <a:endParaRPr lang="en-US" sz="1600" dirty="0"/>
          </a:p>
        </p:txBody>
      </p:sp>
      <p:sp>
        <p:nvSpPr>
          <p:cNvPr id="13" name="Bifa F1 și F2 trecute"/>
          <p:cNvSpPr/>
          <p:nvPr/>
        </p:nvSpPr>
        <p:spPr>
          <a:xfrm>
            <a:off x="6336792" y="1435608"/>
            <a:ext cx="384048" cy="384048"/>
          </a:xfrm>
          <a:prstGeom prst="rect">
            <a:avLst/>
          </a:prstGeom>
          <a:solidFill>
            <a:schemeClr val="bg1"/>
          </a:solidFill>
          <a:ln w="22225">
            <a:solidFill>
              <a:schemeClr val="accent1"/>
            </a:solidFill>
            <a:prstDash val="solid"/>
          </a:ln>
        </p:spPr>
      </p:sp>
      <p:sp>
        <p:nvSpPr>
          <p:cNvPr id="14" name="Preconditie F1 și F2 trecute"/>
          <p:cNvSpPr txBox="1"/>
          <p:nvPr/>
        </p:nvSpPr>
        <p:spPr>
          <a:xfrm>
            <a:off x="6931152" y="1325880"/>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F1 și F2 trecute</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100% pass pe server, audit 10/10</a:t>
            </a:r>
            <a:endParaRPr lang="en-US" sz="1600" dirty="0"/>
          </a:p>
        </p:txBody>
      </p:sp>
      <p:sp>
        <p:nvSpPr>
          <p:cNvPr id="15" name="Bifa F3 trecut"/>
          <p:cNvSpPr/>
          <p:nvPr/>
        </p:nvSpPr>
        <p:spPr>
          <a:xfrm>
            <a:off x="6336792" y="2276856"/>
            <a:ext cx="384048" cy="384048"/>
          </a:xfrm>
          <a:prstGeom prst="rect">
            <a:avLst/>
          </a:prstGeom>
          <a:solidFill>
            <a:schemeClr val="bg1"/>
          </a:solidFill>
          <a:ln w="22225">
            <a:solidFill>
              <a:schemeClr val="accent1"/>
            </a:solidFill>
            <a:prstDash val="solid"/>
          </a:ln>
        </p:spPr>
      </p:sp>
      <p:sp>
        <p:nvSpPr>
          <p:cNvPr id="16" name="Preconditie F3 trecut"/>
          <p:cNvSpPr txBox="1"/>
          <p:nvPr/>
        </p:nvSpPr>
        <p:spPr>
          <a:xfrm>
            <a:off x="6931152" y="2167128"/>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F3 trecut</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unit + UI tests iOS, 100% pass</a:t>
            </a:r>
            <a:endParaRPr lang="en-US" sz="1600" dirty="0"/>
          </a:p>
        </p:txBody>
      </p:sp>
      <p:sp>
        <p:nvSpPr>
          <p:cNvPr id="17" name="Bifa Două iPhone-uri cu LiDAR"/>
          <p:cNvSpPr/>
          <p:nvPr/>
        </p:nvSpPr>
        <p:spPr>
          <a:xfrm>
            <a:off x="6336792" y="3118104"/>
            <a:ext cx="384048" cy="384048"/>
          </a:xfrm>
          <a:prstGeom prst="rect">
            <a:avLst/>
          </a:prstGeom>
          <a:solidFill>
            <a:schemeClr val="bg1"/>
          </a:solidFill>
          <a:ln w="22225">
            <a:solidFill>
              <a:schemeClr val="accent1"/>
            </a:solidFill>
            <a:prstDash val="solid"/>
          </a:ln>
        </p:spPr>
      </p:sp>
      <p:sp>
        <p:nvSpPr>
          <p:cNvPr id="18" name="Preconditie Două iPhone-uri cu LiDAR"/>
          <p:cNvSpPr txBox="1"/>
          <p:nvPr/>
        </p:nvSpPr>
        <p:spPr>
          <a:xfrm>
            <a:off x="6931152" y="3008376"/>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Două iPhone-uri cu LiDAR</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încărcate, aplicația instalată</a:t>
            </a:r>
            <a:endParaRPr lang="en-US" sz="1600" dirty="0"/>
          </a:p>
        </p:txBody>
      </p:sp>
      <p:sp>
        <p:nvSpPr>
          <p:cNvPr id="19" name="Bifa Camera de test"/>
          <p:cNvSpPr/>
          <p:nvPr/>
        </p:nvSpPr>
        <p:spPr>
          <a:xfrm>
            <a:off x="6336792" y="3959352"/>
            <a:ext cx="384048" cy="384048"/>
          </a:xfrm>
          <a:prstGeom prst="rect">
            <a:avLst/>
          </a:prstGeom>
          <a:solidFill>
            <a:schemeClr val="bg1"/>
          </a:solidFill>
          <a:ln w="22225">
            <a:solidFill>
              <a:schemeClr val="accent1"/>
            </a:solidFill>
            <a:prstDash val="solid"/>
          </a:ln>
        </p:spPr>
      </p:sp>
      <p:sp>
        <p:nvSpPr>
          <p:cNvPr id="20" name="Preconditie Camera de test"/>
          <p:cNvSpPr txBox="1"/>
          <p:nvPr/>
        </p:nvSpPr>
        <p:spPr>
          <a:xfrm>
            <a:off x="6931152" y="3849624"/>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Camera de test</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5–10 obiecte comune, lumină bună</a:t>
            </a:r>
            <a:endParaRPr lang="en-US" sz="1600" dirty="0"/>
          </a:p>
        </p:txBody>
      </p:sp>
      <p:sp>
        <p:nvSpPr>
          <p:cNvPr id="21" name="Bifa Rețele"/>
          <p:cNvSpPr/>
          <p:nvPr/>
        </p:nvSpPr>
        <p:spPr>
          <a:xfrm>
            <a:off x="6336792" y="4800600"/>
            <a:ext cx="384048" cy="384048"/>
          </a:xfrm>
          <a:prstGeom prst="rect">
            <a:avLst/>
          </a:prstGeom>
          <a:solidFill>
            <a:schemeClr val="bg1"/>
          </a:solidFill>
          <a:ln w="22225">
            <a:solidFill>
              <a:schemeClr val="accent1"/>
            </a:solidFill>
            <a:prstDash val="solid"/>
          </a:ln>
        </p:spPr>
      </p:sp>
      <p:sp>
        <p:nvSpPr>
          <p:cNvPr id="22" name="Preconditie Rețele"/>
          <p:cNvSpPr txBox="1"/>
          <p:nvPr/>
        </p:nvSpPr>
        <p:spPr>
          <a:xfrm>
            <a:off x="6931152" y="4690872"/>
            <a:ext cx="4754880" cy="6858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Rețele</a:t>
            </a:r>
            <a:endParaRPr lang="en-US" sz="1600" dirty="0"/>
          </a:p>
          <a:p>
            <a:pPr indent="0" marL="0">
              <a:buNone/>
            </a:pPr>
            <a:r>
              <a:rPr lang="en-US" sz="1600" dirty="0">
                <a:solidFill>
                  <a:schemeClr val="tx2"/>
                </a:solidFill>
                <a:latin typeface="Calibri" pitchFamily="34" charset="0"/>
                <a:ea typeface="Calibri" pitchFamily="34" charset="-122"/>
                <a:cs typeface="Calibri" pitchFamily="34" charset="-120"/>
              </a:rPr>
              <a:t>Wi-Fi LAN, 4G/5G, un hotspot pentru F6</a:t>
            </a:r>
            <a:endParaRPr lang="en-US" sz="1600" dirty="0"/>
          </a:p>
        </p:txBody>
      </p:sp>
      <p:sp>
        <p:nvSpPr>
          <p:cNvPr id="23" name="Poarta"/>
          <p:cNvSpPr/>
          <p:nvPr/>
        </p:nvSpPr>
        <p:spPr>
          <a:xfrm>
            <a:off x="457200" y="5623560"/>
            <a:ext cx="11274552" cy="548640"/>
          </a:xfrm>
          <a:prstGeom prst="roundRect">
            <a:avLst>
              <a:gd name="adj" fmla="val 13333"/>
            </a:avLst>
          </a:prstGeom>
          <a:solidFill>
            <a:schemeClr val="bg2"/>
          </a:solidFill>
          <a:ln/>
          <a:effectLst>
            <a:outerShdw sx="100000" sy="100000" kx="0" ky="0" algn="bl" rotWithShape="0" blurRad="76200" dist="25400" dir="5400000">
              <a:srgbClr val="17323F">
                <a:alpha val="14000"/>
              </a:srgbClr>
            </a:outerShdw>
          </a:effectLst>
        </p:spPr>
      </p:sp>
      <p:sp>
        <p:nvSpPr>
          <p:cNvPr id="24" name="Poarta text"/>
          <p:cNvSpPr txBox="1"/>
          <p:nvPr/>
        </p:nvSpPr>
        <p:spPr>
          <a:xfrm>
            <a:off x="685800" y="5623560"/>
            <a:ext cx="10881360" cy="5486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Poarta F0: </a:t>
            </a:r>
            <a:pPr indent="0" marL="0">
              <a:buNone/>
            </a:pPr>
            <a:r>
              <a:rPr lang="en-US" sz="1600" dirty="0">
                <a:solidFill>
                  <a:schemeClr val="tx1"/>
                </a:solidFill>
                <a:latin typeface="Calibri" pitchFamily="34" charset="0"/>
                <a:ea typeface="Calibri" pitchFamily="34" charset="-122"/>
                <a:cs typeface="Calibri" pitchFamily="34" charset="-120"/>
              </a:rPr>
              <a:t>toate sarcinile din „Depinde de” ale SRV-014 sunt închise. Altfel nu pornim F4.</a:t>
            </a:r>
            <a:endParaRPr lang="en-US" sz="16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2194560" y="2240280"/>
            <a:ext cx="932688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F4 · Același user, două telefoane (LAN)</a:t>
            </a:r>
            <a:endParaRPr lang="en-US" sz="4000" dirty="0"/>
          </a:p>
        </p:txBody>
      </p:sp>
      <p:sp>
        <p:nvSpPr>
          <p:cNvPr id="3" name="Text 0"/>
          <p:cNvSpPr/>
          <p:nvPr>
            <p:ph idx="101" type="body" hasCustomPrompt="1"/>
          </p:nvPr>
        </p:nvSpPr>
        <p:spPr>
          <a:xfrm>
            <a:off x="2194560" y="3611880"/>
            <a:ext cx="9144000" cy="109728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A și B cu contul U1, în aceeași rețea Wi-Fi. 15 pași, T‑L01…T‑L15.</a:t>
            </a:r>
            <a:endParaRPr lang="en-US" sz="2000" dirty="0"/>
          </a:p>
        </p:txBody>
      </p:sp>
      <p:sp>
        <p:nvSpPr>
          <p:cNvPr id="4" name="F4 cerc"/>
          <p:cNvSpPr/>
          <p:nvPr/>
        </p:nvSpPr>
        <p:spPr>
          <a:xfrm>
            <a:off x="731520" y="2331720"/>
            <a:ext cx="1143000" cy="1143000"/>
          </a:xfrm>
          <a:prstGeom prst="ellipse">
            <a:avLst/>
          </a:prstGeom>
          <a:solidFill>
            <a:schemeClr val="accent1"/>
          </a:solidFill>
          <a:ln/>
        </p:spPr>
      </p:sp>
      <p:pic>
        <p:nvPicPr>
          <p:cNvPr id="5" name="F4 icon" descr="F4">    </p:cNvPr>
          <p:cNvPicPr>
            <a:picLocks noChangeAspect="1"/>
          </p:cNvPicPr>
          <p:nvPr/>
        </p:nvPicPr>
        <p:blipFill>
          <a:blip r:embed="rId1"/>
          <a:stretch>
            <a:fillRect/>
          </a:stretch>
        </p:blipFill>
        <p:spPr>
          <a:xfrm>
            <a:off x="1040130" y="2640330"/>
            <a:ext cx="525780" cy="525780"/>
          </a:xfrm>
          <a:prstGeom prst="rect">
            <a:avLst/>
          </a:prstGeom>
        </p:spPr>
      </p:pic>
      <p:sp>
        <p:nvSpPr>
          <p:cNvPr id="6" name="Indicatie"/>
          <p:cNvSpPr txBox="1"/>
          <p:nvPr/>
        </p:nvSpPr>
        <p:spPr>
          <a:xfrm>
            <a:off x="2194560" y="5120640"/>
            <a:ext cx="9144000" cy="4572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Pe fiecare slide: A | B | Server, rezultatul așteptat, dovada și bifa PASS / FAIL / NOT RUN.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T-L01  </a:t>
            </a:r>
            <a:pPr algn="l" indent="0" marL="0">
              <a:buNone/>
            </a:pPr>
            <a:r>
              <a:rPr lang="en-US" sz="3600" b="1" dirty="0">
                <a:solidFill>
                  <a:schemeClr val="tx1"/>
                </a:solidFill>
                <a:latin typeface="Cambria" pitchFamily="34" charset="0"/>
                <a:ea typeface="Cambria" pitchFamily="34" charset="-122"/>
                <a:cs typeface="Cambria" pitchFamily="34" charset="-120"/>
              </a:rPr>
              <a:t>Autentificare A și B cu U1</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Deschide aplicația și intră cu contul U1. Verifică în modul de diagnostic: user U1, rețea LAN.</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sesiune U1 activă</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Intră tot cu contul U1. Vede aceeași listă de camere ca A.</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sesiune U1 activă</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/admin/test: 2 sesiuni active pentru U1 și 2 dispozitive (A, B), ambele pe LAN.</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2 sesiuni, 2 dispozitive</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/admin/test cu A și B conectate: user, rețea, ultimul seq.</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T-L02  </a:t>
            </a:r>
            <a:pPr algn="l" indent="0" marL="0">
              <a:buNone/>
            </a:pPr>
            <a:r>
              <a:rPr lang="en-US" sz="3600" b="1" dirty="0">
                <a:solidFill>
                  <a:schemeClr val="tx1"/>
                </a:solidFill>
                <a:latin typeface="Cambria" pitchFamily="34" charset="0"/>
                <a:ea typeface="Cambria" pitchFamily="34" charset="-122"/>
                <a:cs typeface="Cambria" pitchFamily="34" charset="-120"/>
              </a:rPr>
              <a:t>Camera „Birou”, fără obiecte</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2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Scanează camera „Birou” fără obiecte și o salvează. Notează ora salvării.</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„Birou” salvată</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face nimic. „Birou” trebuie să apară în cel mult 10 s. Notează ora apariției.</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apare în ≤ 10 s</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Rând nou pentru „Birou”, cu seq = N. Notăm N pentru pașii următori.</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rând nou, seq = N</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Valoarea seq = N, ora salvării pe A și ora apariției pe B.</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T-L03  </a:t>
            </a:r>
            <a:pPr algn="l" indent="0" marL="0">
              <a:buNone/>
            </a:pPr>
            <a:r>
              <a:rPr lang="en-US" sz="3600" b="1" dirty="0">
                <a:solidFill>
                  <a:schemeClr val="tx1"/>
                </a:solidFill>
                <a:latin typeface="Cambria" pitchFamily="34" charset="0"/>
                <a:ea typeface="Cambria" pitchFamily="34" charset="-122"/>
                <a:cs typeface="Cambria" pitchFamily="34" charset="-120"/>
              </a:rPr>
              <a:t>Cinci obiecte în „Birou”</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3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Detectează 5 obiecte (cană, laptop, scaun, carte, monitor) și le salvează.</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5 obiecte salvate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Cele 5 obiecte apar, cu aceleași clase și aceleași poziții relative. Se notează eroarea de poziție.</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5 din 5, aceleași clase</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5 obiecte noi în „Birou”, toate cu seq mai mare decât N.</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5 rânduri, seq &gt; N</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Lista obiectelor de pe A față de B: clasă, poziție, eroarea raportată.</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T-L04  </a:t>
            </a:r>
            <a:pPr algn="l" indent="0" marL="0">
              <a:buNone/>
            </a:pPr>
            <a:r>
              <a:rPr lang="en-US" sz="3600" b="1" dirty="0">
                <a:solidFill>
                  <a:schemeClr val="tx1"/>
                </a:solidFill>
                <a:latin typeface="Cambria" pitchFamily="34" charset="0"/>
                <a:ea typeface="Cambria" pitchFamily="34" charset="-122"/>
                <a:cs typeface="Cambria" pitchFamily="34" charset="-120"/>
              </a:rPr>
              <a:t>B adaugă „sticlă”</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4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face nimic. Urmărește lista din „Birou”: „sticlă” trebuie să apară.</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„sticlă” apare</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Adaugă în „Birou” un obiect nou, „sticlă”, și îl salvează.</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p:cNvSpPr/>
          <p:nvPr/>
        </p:nvSpPr>
        <p:spPr>
          <a:xfrm>
            <a:off x="4489704" y="4023360"/>
            <a:ext cx="3209544" cy="457200"/>
          </a:xfrm>
          <a:prstGeom prst="roundRect">
            <a:avLst>
              <a:gd name="adj" fmla="val 12000"/>
            </a:avLst>
          </a:prstGeom>
          <a:solidFill>
            <a:schemeClr val="accent4"/>
          </a:solidFill>
          <a:ln/>
        </p:spPr>
      </p:sp>
      <p:sp>
        <p:nvSpPr>
          <p:cNvPr id="23"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„sticlă” salvată</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Rând nou pentru „sticlă”, cu un seq nou, mai mare decât cele din T‑L03.</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seq nou</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Fără dovadă separată în plan. Se notează seq-ul nou și ora apariției pe A.</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T-L05  </a:t>
            </a:r>
            <a:pPr algn="l" indent="0" marL="0">
              <a:buNone/>
            </a:pPr>
            <a:r>
              <a:rPr lang="en-US" sz="3600" b="1" dirty="0">
                <a:solidFill>
                  <a:schemeClr val="tx1"/>
                </a:solidFill>
                <a:latin typeface="Cambria" pitchFamily="34" charset="0"/>
                <a:ea typeface="Cambria" pitchFamily="34" charset="-122"/>
                <a:cs typeface="Cambria" pitchFamily="34" charset="-120"/>
              </a:rPr>
              <a:t>B redenumește un obiect</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5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Urmărește obiectul: trebuie să afișeze numele nou, fără o a doua copie.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numele nou</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Redenumește un obiect (de exemplu „cană” în „cana mea”) și salvează.</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p:cNvSpPr/>
          <p:nvPr/>
        </p:nvSpPr>
        <p:spPr>
          <a:xfrm>
            <a:off x="4489704" y="4023360"/>
            <a:ext cx="3209544" cy="457200"/>
          </a:xfrm>
          <a:prstGeom prst="roundRect">
            <a:avLst>
              <a:gd name="adj" fmla="val 12000"/>
            </a:avLst>
          </a:prstGeom>
          <a:solidFill>
            <a:schemeClr val="accent4"/>
          </a:solidFill>
          <a:ln/>
        </p:spPr>
      </p:sp>
      <p:sp>
        <p:nvSpPr>
          <p:cNvPr id="23"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numele nou</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Un singur rând pentru obiect, cu numele nou și seq nou. Niciun duplicat.</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1 rând, fără duplicat</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Fără dovadă separată în plan. În /admin/test se arată că obiectul are un singur rând.</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T-L06  </a:t>
            </a:r>
            <a:pPr algn="l" indent="0" marL="0">
              <a:buNone/>
            </a:pPr>
            <a:r>
              <a:rPr lang="en-US" sz="3600" b="1" dirty="0">
                <a:solidFill>
                  <a:schemeClr val="tx1"/>
                </a:solidFill>
                <a:latin typeface="Cambria" pitchFamily="34" charset="0"/>
                <a:ea typeface="Cambria" pitchFamily="34" charset="-122"/>
                <a:cs typeface="Cambria" pitchFamily="34" charset="-120"/>
              </a:rPr>
              <a:t>A șterge un obiect</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6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Șterge un obiect din „Birou” (de exemplu „carte”).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5"/>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LIPSĂ</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obiectul lipsește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Obiectul trebuie să dispară din listă (tombstone aplicat).</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5"/>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LIPSĂ</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obiectul lipsește</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Obiectul e marcat șters (tombstone), dar rămâne în istoric. Nu e șters fizic.</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marcat șters, în istoric</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Fără dovadă separată în plan. În /admin/test se arată rândul marcat șters.</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T-L07  </a:t>
            </a:r>
            <a:pPr algn="l" indent="0" marL="0">
              <a:buNone/>
            </a:pPr>
            <a:r>
              <a:rPr lang="en-US" sz="3600" b="1" dirty="0">
                <a:solidFill>
                  <a:schemeClr val="tx1"/>
                </a:solidFill>
                <a:latin typeface="Cambria" pitchFamily="34" charset="0"/>
                <a:ea typeface="Cambria" pitchFamily="34" charset="-122"/>
                <a:cs typeface="Cambria" pitchFamily="34" charset="-120"/>
              </a:rPr>
              <a:t>Conflict: același obiect, simultan</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7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La semnalul moderatorului, modifică obiectul X (de exemplu poziția).</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stare finală = server</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În aceeași secundă, modifică același obiect X (de exemplu numele).</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tranzit"/>
          <p:cNvSpPr/>
          <p:nvPr/>
        </p:nvSpPr>
        <p:spPr>
          <a:xfrm>
            <a:off x="4489704" y="4023360"/>
            <a:ext cx="566928" cy="457200"/>
          </a:xfrm>
          <a:prstGeom prst="roundRect">
            <a:avLst>
              <a:gd name="adj" fmla="val 12000"/>
            </a:avLst>
          </a:prstGeom>
          <a:solidFill>
            <a:schemeClr val="accent6"/>
          </a:solidFill>
          <a:ln/>
        </p:spPr>
      </p:sp>
      <p:sp>
        <p:nvSpPr>
          <p:cNvPr id="23"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4"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5" name="Stare B"/>
          <p:cNvSpPr/>
          <p:nvPr/>
        </p:nvSpPr>
        <p:spPr>
          <a:xfrm>
            <a:off x="5330952" y="4023360"/>
            <a:ext cx="2368296" cy="457200"/>
          </a:xfrm>
          <a:prstGeom prst="roundRect">
            <a:avLst>
              <a:gd name="adj" fmla="val 12000"/>
            </a:avLst>
          </a:prstGeom>
          <a:solidFill>
            <a:schemeClr val="accent4"/>
          </a:solidFill>
          <a:ln/>
        </p:spPr>
      </p:sp>
      <p:sp>
        <p:nvSpPr>
          <p:cNvPr id="26"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7"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stare finală = server</a:t>
            </a:r>
            <a:endParaRPr lang="en-US" sz="1400" dirty="0"/>
          </a:p>
        </p:txBody>
      </p:sp>
      <p:sp>
        <p:nvSpPr>
          <p:cNvPr id="28"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9" name="Server cerc"/>
          <p:cNvSpPr/>
          <p:nvPr/>
        </p:nvSpPr>
        <p:spPr>
          <a:xfrm>
            <a:off x="8339328" y="1737360"/>
            <a:ext cx="548640" cy="548640"/>
          </a:xfrm>
          <a:prstGeom prst="ellipse">
            <a:avLst/>
          </a:prstGeom>
          <a:solidFill>
            <a:schemeClr val="accent3"/>
          </a:solidFill>
          <a:ln/>
        </p:spPr>
      </p:sp>
      <p:pic>
        <p:nvPicPr>
          <p:cNvPr id="30"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31"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32"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Unul dintre telefoane primește 409 și reconciliază. La final: aceeași stare pe A, B și server.</a:t>
            </a:r>
            <a:endParaRPr lang="en-US" sz="1600" dirty="0"/>
          </a:p>
        </p:txBody>
      </p:sp>
      <p:sp>
        <p:nvSpPr>
          <p:cNvPr id="33"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4" name="Stare Server"/>
          <p:cNvSpPr/>
          <p:nvPr/>
        </p:nvSpPr>
        <p:spPr>
          <a:xfrm>
            <a:off x="8339328" y="4023360"/>
            <a:ext cx="3209544" cy="457200"/>
          </a:xfrm>
          <a:prstGeom prst="roundRect">
            <a:avLst>
              <a:gd name="adj" fmla="val 12000"/>
            </a:avLst>
          </a:prstGeom>
          <a:solidFill>
            <a:schemeClr val="accent4"/>
          </a:solidFill>
          <a:ln/>
        </p:spPr>
      </p:sp>
      <p:sp>
        <p:nvSpPr>
          <p:cNvPr id="35"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6"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409 pentru unul</a:t>
            </a:r>
            <a:endParaRPr lang="en-US" sz="1400" dirty="0"/>
          </a:p>
        </p:txBody>
      </p:sp>
      <p:sp>
        <p:nvSpPr>
          <p:cNvPr id="37"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8" name="Dovada cerc"/>
          <p:cNvSpPr/>
          <p:nvPr/>
        </p:nvSpPr>
        <p:spPr>
          <a:xfrm>
            <a:off x="640080" y="5138928"/>
            <a:ext cx="411480" cy="411480"/>
          </a:xfrm>
          <a:prstGeom prst="ellipse">
            <a:avLst/>
          </a:prstGeom>
          <a:solidFill>
            <a:schemeClr val="tx2"/>
          </a:solidFill>
          <a:ln/>
        </p:spPr>
      </p:sp>
      <p:pic>
        <p:nvPicPr>
          <p:cNvPr id="39"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40"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41"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Hash-ul de stare de pe A este egal cu cel de pe B (din modul de diagnostic).</a:t>
            </a:r>
            <a:endParaRPr lang="en-US" sz="1600" dirty="0"/>
          </a:p>
        </p:txBody>
      </p:sp>
      <p:sp>
        <p:nvSpPr>
          <p:cNvPr id="42"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3"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4"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5"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6"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7"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8"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9"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T-L08  </a:t>
            </a:r>
            <a:pPr algn="l" indent="0" marL="0">
              <a:buNone/>
            </a:pPr>
            <a:r>
              <a:rPr lang="en-US" sz="3600" b="1" dirty="0">
                <a:solidFill>
                  <a:schemeClr val="tx1"/>
                </a:solidFill>
                <a:latin typeface="Cambria" pitchFamily="34" charset="0"/>
                <a:ea typeface="Cambria" pitchFamily="34" charset="-122"/>
                <a:cs typeface="Cambria" pitchFamily="34" charset="-120"/>
              </a:rPr>
              <a:t>Fotografie (asset) pe A</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8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Fotografiază un obiect (de exemplu monitorul) și salvează fotografia.</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foto locală, sha256</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Fotografia apare la același obiect, cu sha256 identic cu cel de pe A.</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sha256 identic</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Blob publicat. sha256 stocat = sha256 trimis de A.</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blob publicat</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sha256 de pe A, de pe B și de pe server. Toate trei trebuie să fie identice.</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T-L09  </a:t>
            </a:r>
            <a:pPr algn="l" indent="0" marL="0">
              <a:buNone/>
            </a:pPr>
            <a:r>
              <a:rPr lang="en-US" sz="3600" b="1" dirty="0">
                <a:solidFill>
                  <a:schemeClr val="tx1"/>
                </a:solidFill>
                <a:latin typeface="Cambria" pitchFamily="34" charset="0"/>
                <a:ea typeface="Cambria" pitchFamily="34" charset="-122"/>
                <a:cs typeface="Cambria" pitchFamily="34" charset="-120"/>
              </a:rPr>
              <a:t>Harta camerei (worldmap.armap)</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9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Salvează harta camerei „Birou” (worldmap.armap).</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hartă salvată</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Harta apare. B se relocalizează în cameră și vede obiectele la locul lor.</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relocalizat, obiecte la loc</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Harta e stocată și atașată camerei „Birou”.</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hartă stocată</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de pe B cu obiectele afișate la locul lor după relocalizare.</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T-L10  </a:t>
            </a:r>
            <a:pPr algn="l" indent="0" marL="0">
              <a:buNone/>
            </a:pPr>
            <a:r>
              <a:rPr lang="en-US" sz="3600" b="1" dirty="0">
                <a:solidFill>
                  <a:schemeClr val="tx1"/>
                </a:solidFill>
                <a:latin typeface="Cambria" pitchFamily="34" charset="0"/>
                <a:ea typeface="Cambria" pitchFamily="34" charset="-122"/>
                <a:cs typeface="Cambria" pitchFamily="34" charset="-120"/>
              </a:rPr>
              <a:t>Clip video pentru reprocesare</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10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Filmează un clip video al camerei și îl urcă.</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clip urcat</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După procesare, vede rezultatul reprocesării (detecțiile noi).</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rezultat după done</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Jobul trece din uploaded în done, cu detecții.</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tranzit"/>
          <p:cNvSpPr/>
          <p:nvPr/>
        </p:nvSpPr>
        <p:spPr>
          <a:xfrm>
            <a:off x="8339328" y="4023360"/>
            <a:ext cx="566928" cy="457200"/>
          </a:xfrm>
          <a:prstGeom prst="roundRect">
            <a:avLst>
              <a:gd name="adj" fmla="val 12000"/>
            </a:avLst>
          </a:prstGeom>
          <a:solidFill>
            <a:schemeClr val="accent6"/>
          </a:solidFill>
          <a:ln/>
        </p:spPr>
      </p:sp>
      <p:sp>
        <p:nvSpPr>
          <p:cNvPr id="32" name="Stare Server tranzit text"/>
          <p:cNvSpPr txBox="1"/>
          <p:nvPr/>
        </p:nvSpPr>
        <p:spPr>
          <a:xfrm>
            <a:off x="8339328"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33" name="Stare Server sageata"/>
          <p:cNvSpPr txBox="1"/>
          <p:nvPr/>
        </p:nvSpPr>
        <p:spPr>
          <a:xfrm>
            <a:off x="8906256"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34" name="Stare Server"/>
          <p:cNvSpPr/>
          <p:nvPr/>
        </p:nvSpPr>
        <p:spPr>
          <a:xfrm>
            <a:off x="9180576" y="4023360"/>
            <a:ext cx="2368296" cy="457200"/>
          </a:xfrm>
          <a:prstGeom prst="roundRect">
            <a:avLst>
              <a:gd name="adj" fmla="val 12000"/>
            </a:avLst>
          </a:prstGeom>
          <a:solidFill>
            <a:schemeClr val="accent4"/>
          </a:solidFill>
          <a:ln/>
        </p:spPr>
      </p:sp>
      <p:sp>
        <p:nvSpPr>
          <p:cNvPr id="35" name="Stare Server text"/>
          <p:cNvSpPr txBox="1"/>
          <p:nvPr/>
        </p:nvSpPr>
        <p:spPr>
          <a:xfrm>
            <a:off x="9180576"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6"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uploaded → done</a:t>
            </a:r>
            <a:endParaRPr lang="en-US" sz="1400" dirty="0"/>
          </a:p>
        </p:txBody>
      </p:sp>
      <p:sp>
        <p:nvSpPr>
          <p:cNvPr id="37"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8" name="Dovada cerc"/>
          <p:cNvSpPr/>
          <p:nvPr/>
        </p:nvSpPr>
        <p:spPr>
          <a:xfrm>
            <a:off x="640080" y="5138928"/>
            <a:ext cx="411480" cy="411480"/>
          </a:xfrm>
          <a:prstGeom prst="ellipse">
            <a:avLst/>
          </a:prstGeom>
          <a:solidFill>
            <a:schemeClr val="tx2"/>
          </a:solidFill>
          <a:ln/>
        </p:spPr>
      </p:sp>
      <p:pic>
        <p:nvPicPr>
          <p:cNvPr id="39"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40"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41"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Id-ul jobului de reprocesare.</a:t>
            </a:r>
            <a:endParaRPr lang="en-US" sz="1600" dirty="0"/>
          </a:p>
        </p:txBody>
      </p:sp>
      <p:sp>
        <p:nvSpPr>
          <p:cNvPr id="42"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3"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4"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5"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6"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7"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8"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9"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T-L11  </a:t>
            </a:r>
            <a:pPr algn="l" indent="0" marL="0">
              <a:buNone/>
            </a:pPr>
            <a:r>
              <a:rPr lang="en-US" sz="3600" b="1" dirty="0">
                <a:solidFill>
                  <a:schemeClr val="tx1"/>
                </a:solidFill>
                <a:latin typeface="Cambria" pitchFamily="34" charset="0"/>
                <a:ea typeface="Cambria" pitchFamily="34" charset="-122"/>
                <a:cs typeface="Cambria" pitchFamily="34" charset="-120"/>
              </a:rPr>
              <a:t>Fluxuri brute, 2 minute</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11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Pornește fluxurile brute (scenă) și le lasă 2 minute, apoi le oprește.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fluxuri trimise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la acest pas.</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1"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2" name="Server cerc"/>
          <p:cNvSpPr/>
          <p:nvPr/>
        </p:nvSpPr>
        <p:spPr>
          <a:xfrm>
            <a:off x="8339328" y="1737360"/>
            <a:ext cx="548640" cy="548640"/>
          </a:xfrm>
          <a:prstGeom prst="ellipse">
            <a:avLst/>
          </a:prstGeom>
          <a:solidFill>
            <a:schemeClr val="accent3"/>
          </a:solidFill>
          <a:ln/>
        </p:spPr>
      </p:sp>
      <p:pic>
        <p:nvPicPr>
          <p:cNvPr id="23"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4"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5"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/scena/fluxuri/: live RGB, depth, IMU și audio. sha256 trimis = stocat. Contoarele de cadre netrimise afișate.</a:t>
            </a:r>
            <a:endParaRPr lang="en-US" sz="1600" dirty="0"/>
          </a:p>
        </p:txBody>
      </p:sp>
      <p:sp>
        <p:nvSpPr>
          <p:cNvPr id="26"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7" name="Stare Server"/>
          <p:cNvSpPr/>
          <p:nvPr/>
        </p:nvSpPr>
        <p:spPr>
          <a:xfrm>
            <a:off x="8339328" y="4023360"/>
            <a:ext cx="3209544" cy="457200"/>
          </a:xfrm>
          <a:prstGeom prst="roundRect">
            <a:avLst>
              <a:gd name="adj" fmla="val 12000"/>
            </a:avLst>
          </a:prstGeom>
          <a:solidFill>
            <a:schemeClr val="accent4"/>
          </a:solidFill>
          <a:ln/>
        </p:spPr>
      </p:sp>
      <p:sp>
        <p:nvSpPr>
          <p:cNvPr id="28"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9"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sha256 trimis = stocat</a:t>
            </a:r>
            <a:endParaRPr lang="en-US" sz="1400" dirty="0"/>
          </a:p>
        </p:txBody>
      </p:sp>
      <p:sp>
        <p:nvSpPr>
          <p:cNvPr id="30"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1" name="Dovada cerc"/>
          <p:cNvSpPr/>
          <p:nvPr/>
        </p:nvSpPr>
        <p:spPr>
          <a:xfrm>
            <a:off x="640080" y="5138928"/>
            <a:ext cx="411480" cy="411480"/>
          </a:xfrm>
          <a:prstGeom prst="ellipse">
            <a:avLst/>
          </a:prstGeom>
          <a:solidFill>
            <a:schemeClr val="tx2"/>
          </a:solidFill>
          <a:ln/>
        </p:spPr>
      </p:sp>
      <p:pic>
        <p:nvPicPr>
          <p:cNvPr id="32"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3"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4"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Contoarele: cadre trimise, stocate și netrimise.</a:t>
            </a:r>
            <a:endParaRPr lang="en-US" sz="1600" dirty="0"/>
          </a:p>
        </p:txBody>
      </p:sp>
      <p:sp>
        <p:nvSpPr>
          <p:cNvPr id="35"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6"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7"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8"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39"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0"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1"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2"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T-L12  </a:t>
            </a:r>
            <a:pPr algn="l" indent="0" marL="0">
              <a:buNone/>
            </a:pPr>
            <a:r>
              <a:rPr lang="en-US" sz="3600" b="1" dirty="0">
                <a:solidFill>
                  <a:schemeClr val="tx1"/>
                </a:solidFill>
                <a:latin typeface="Cambria" pitchFamily="34" charset="0"/>
                <a:ea typeface="Cambria" pitchFamily="34" charset="-122"/>
                <a:cs typeface="Cambria" pitchFamily="34" charset="-120"/>
              </a:rPr>
              <a:t>Navigare 3D pe site (/scena/)</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12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Ține „Birou” nemodificat.</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bg1"/>
          </a:solidFill>
          <a:ln w="15875">
            <a:solidFill>
              <a:schemeClr val="tx2"/>
            </a:solidFill>
            <a:prstDash val="dash"/>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12"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3" name="B cerc"/>
          <p:cNvSpPr/>
          <p:nvPr/>
        </p:nvSpPr>
        <p:spPr>
          <a:xfrm>
            <a:off x="4489704" y="1737360"/>
            <a:ext cx="548640" cy="548640"/>
          </a:xfrm>
          <a:prstGeom prst="ellipse">
            <a:avLst/>
          </a:prstGeom>
          <a:solidFill>
            <a:schemeClr val="accent2"/>
          </a:solidFill>
          <a:ln/>
        </p:spPr>
      </p:sp>
      <p:pic>
        <p:nvPicPr>
          <p:cNvPr id="14"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5"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6"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Ține „Birou” nemodificat.</a:t>
            </a:r>
            <a:endParaRPr lang="en-US" sz="1600" dirty="0"/>
          </a:p>
        </p:txBody>
      </p:sp>
      <p:sp>
        <p:nvSpPr>
          <p:cNvPr id="17"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8"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19"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0"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1" name="Server cerc"/>
          <p:cNvSpPr/>
          <p:nvPr/>
        </p:nvSpPr>
        <p:spPr>
          <a:xfrm>
            <a:off x="8339328" y="1737360"/>
            <a:ext cx="548640" cy="548640"/>
          </a:xfrm>
          <a:prstGeom prst="ellipse">
            <a:avLst/>
          </a:prstGeom>
          <a:solidFill>
            <a:schemeClr val="accent3"/>
          </a:solidFill>
          <a:ln/>
        </p:spPr>
      </p:sp>
      <p:pic>
        <p:nvPicPr>
          <p:cNvPr id="22"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3"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4"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 site, /scena/: navigare 3D în „Birou”. Obiectele sunt clicabile, cu detalii și cadrele brute sursă.</a:t>
            </a:r>
            <a:endParaRPr lang="en-US" sz="1600" dirty="0"/>
          </a:p>
        </p:txBody>
      </p:sp>
      <p:sp>
        <p:nvSpPr>
          <p:cNvPr id="25"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6" name="Stare Server"/>
          <p:cNvSpPr/>
          <p:nvPr/>
        </p:nvSpPr>
        <p:spPr>
          <a:xfrm>
            <a:off x="8339328" y="4023360"/>
            <a:ext cx="3209544" cy="457200"/>
          </a:xfrm>
          <a:prstGeom prst="roundRect">
            <a:avLst>
              <a:gd name="adj" fmla="val 12000"/>
            </a:avLst>
          </a:prstGeom>
          <a:solidFill>
            <a:schemeClr val="accent4"/>
          </a:solidFill>
          <a:ln/>
        </p:spPr>
      </p:sp>
      <p:sp>
        <p:nvSpPr>
          <p:cNvPr id="27"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8"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obiecte clicabile</a:t>
            </a:r>
            <a:endParaRPr lang="en-US" sz="1400" dirty="0"/>
          </a:p>
        </p:txBody>
      </p:sp>
      <p:sp>
        <p:nvSpPr>
          <p:cNvPr id="29"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0" name="Dovada cerc"/>
          <p:cNvSpPr/>
          <p:nvPr/>
        </p:nvSpPr>
        <p:spPr>
          <a:xfrm>
            <a:off x="640080" y="5138928"/>
            <a:ext cx="411480" cy="411480"/>
          </a:xfrm>
          <a:prstGeom prst="ellipse">
            <a:avLst/>
          </a:prstGeom>
          <a:solidFill>
            <a:schemeClr val="tx2"/>
          </a:solidFill>
          <a:ln/>
        </p:spPr>
      </p:sp>
      <p:pic>
        <p:nvPicPr>
          <p:cNvPr id="31"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2"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3"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/scena/ cu un obiect selectat și cadrele lui brute.</a:t>
            </a:r>
            <a:endParaRPr lang="en-US" sz="1600" dirty="0"/>
          </a:p>
        </p:txBody>
      </p:sp>
      <p:sp>
        <p:nvSpPr>
          <p:cNvPr id="34"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5"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6"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7"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38"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39"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0"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1"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T-L13  </a:t>
            </a:r>
            <a:pPr algn="l" indent="0" marL="0">
              <a:buNone/>
            </a:pPr>
            <a:r>
              <a:rPr lang="en-US" sz="3600" b="1" dirty="0">
                <a:solidFill>
                  <a:schemeClr val="tx1"/>
                </a:solidFill>
                <a:latin typeface="Cambria" pitchFamily="34" charset="0"/>
                <a:ea typeface="Cambria" pitchFamily="34" charset="-122"/>
                <a:cs typeface="Cambria" pitchFamily="34" charset="-120"/>
              </a:rPr>
              <a:t>Telemetria, separat pe dispozitiv</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13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Folosește câteva funcții: deschide camera, detectează, fotografiază.</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evenimente trimise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Folosește alte funcții: redenumire, hartă.</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evenimente trimise</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/admin/ arată live funcțiile aplicate de A și de B, separat pe dispozitiv.</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și B separate</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/admin/ cu telemetria lui A și a lui B, separat.</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T-L14  </a:t>
            </a:r>
            <a:pPr algn="l" indent="0" marL="0">
              <a:buNone/>
            </a:pPr>
            <a:r>
              <a:rPr lang="en-US" sz="3600" b="1" dirty="0">
                <a:solidFill>
                  <a:schemeClr val="tx1"/>
                </a:solidFill>
                <a:latin typeface="Cambria" pitchFamily="34" charset="0"/>
                <a:ea typeface="Cambria" pitchFamily="34" charset="-122"/>
                <a:cs typeface="Cambria" pitchFamily="34" charset="-120"/>
              </a:rPr>
              <a:t>Export în magazie, import pe B</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14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Exportă „Birou” în magazie ca pachet.</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pachet exportat</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Importă pachetul ca „alt robot”. Compară obiectele, hash-urile și pozițiile cu A.</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aceleași obiecte și hash-uri</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Pachetul e în magazie. Importul creează aceleași obiecte, cu aceleași hash-uri și poziții relative.</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pachet în magazie</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Hash-urile obiectelor din pachet: A față de B.</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T-L15  </a:t>
            </a:r>
            <a:pPr algn="l" indent="0" marL="0">
              <a:buNone/>
            </a:pPr>
            <a:r>
              <a:rPr lang="en-US" sz="3600" b="1" dirty="0">
                <a:solidFill>
                  <a:schemeClr val="tx1"/>
                </a:solidFill>
                <a:latin typeface="Cambria" pitchFamily="34" charset="0"/>
                <a:ea typeface="Cambria" pitchFamily="34" charset="-122"/>
                <a:cs typeface="Cambria" pitchFamily="34" charset="-120"/>
              </a:rPr>
              <a:t>Sunete: ușa și un aparat</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F4 · Același user, două telefoane (LAN)  ·  pasul 15 din 15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Ține fluxul audio activ în „Birou”. Cineva bate la ușă, apoi pornește un aparat.</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audio trimis</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la acest pas.</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1"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2" name="Server cerc"/>
          <p:cNvSpPr/>
          <p:nvPr/>
        </p:nvSpPr>
        <p:spPr>
          <a:xfrm>
            <a:off x="8339328" y="1737360"/>
            <a:ext cx="548640" cy="548640"/>
          </a:xfrm>
          <a:prstGeom prst="ellipse">
            <a:avLst/>
          </a:prstGeom>
          <a:solidFill>
            <a:schemeClr val="accent3"/>
          </a:solidFill>
          <a:ln/>
        </p:spPr>
      </p:sp>
      <p:pic>
        <p:nvPicPr>
          <p:cNvPr id="23"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4"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5"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Evenimentele sonore apar clasificate în /scena/sunete/, legate de camera „Birou”.</a:t>
            </a:r>
            <a:endParaRPr lang="en-US" sz="1600" dirty="0"/>
          </a:p>
        </p:txBody>
      </p:sp>
      <p:sp>
        <p:nvSpPr>
          <p:cNvPr id="26"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7" name="Stare Server"/>
          <p:cNvSpPr/>
          <p:nvPr/>
        </p:nvSpPr>
        <p:spPr>
          <a:xfrm>
            <a:off x="8339328" y="4023360"/>
            <a:ext cx="3209544" cy="457200"/>
          </a:xfrm>
          <a:prstGeom prst="roundRect">
            <a:avLst>
              <a:gd name="adj" fmla="val 12000"/>
            </a:avLst>
          </a:prstGeom>
          <a:solidFill>
            <a:schemeClr val="accent4"/>
          </a:solidFill>
          <a:ln/>
        </p:spPr>
      </p:sp>
      <p:sp>
        <p:nvSpPr>
          <p:cNvPr id="28"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9"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2 evenimente clasificate</a:t>
            </a:r>
            <a:endParaRPr lang="en-US" sz="1400" dirty="0"/>
          </a:p>
        </p:txBody>
      </p:sp>
      <p:sp>
        <p:nvSpPr>
          <p:cNvPr id="30"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1" name="Dovada cerc"/>
          <p:cNvSpPr/>
          <p:nvPr/>
        </p:nvSpPr>
        <p:spPr>
          <a:xfrm>
            <a:off x="640080" y="5138928"/>
            <a:ext cx="411480" cy="411480"/>
          </a:xfrm>
          <a:prstGeom prst="ellipse">
            <a:avLst/>
          </a:prstGeom>
          <a:solidFill>
            <a:schemeClr val="tx2"/>
          </a:solidFill>
          <a:ln/>
        </p:spPr>
      </p:sp>
      <p:pic>
        <p:nvPicPr>
          <p:cNvPr id="32"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3"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4"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/scena/sunete/ cu cele două evenimente.</a:t>
            </a:r>
            <a:endParaRPr lang="en-US" sz="1600" dirty="0"/>
          </a:p>
        </p:txBody>
      </p:sp>
      <p:sp>
        <p:nvSpPr>
          <p:cNvPr id="35"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6"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7"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8"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39"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0"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1"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2"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2194560" y="2240280"/>
            <a:ext cx="932688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F5 · Doi useri: izolarea datelor</a:t>
            </a:r>
            <a:endParaRPr lang="en-US" sz="4000" dirty="0"/>
          </a:p>
        </p:txBody>
      </p:sp>
      <p:sp>
        <p:nvSpPr>
          <p:cNvPr id="3" name="Text 0"/>
          <p:cNvSpPr/>
          <p:nvPr>
            <p:ph idx="101" type="body" hasCustomPrompt="1"/>
          </p:nvPr>
        </p:nvSpPr>
        <p:spPr>
          <a:xfrm>
            <a:off x="2194560" y="3611880"/>
            <a:ext cx="9144000" cy="109728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B trece pe contul U2. Ce e al lui U1 trebuie să lipsească pentru U2, și invers. 4 pași, T‑U01…T‑U04.</a:t>
            </a:r>
            <a:endParaRPr lang="en-US" sz="2000" dirty="0"/>
          </a:p>
        </p:txBody>
      </p:sp>
      <p:sp>
        <p:nvSpPr>
          <p:cNvPr id="4" name="F5 cerc"/>
          <p:cNvSpPr/>
          <p:nvPr/>
        </p:nvSpPr>
        <p:spPr>
          <a:xfrm>
            <a:off x="731520" y="2331720"/>
            <a:ext cx="1143000" cy="1143000"/>
          </a:xfrm>
          <a:prstGeom prst="ellipse">
            <a:avLst/>
          </a:prstGeom>
          <a:solidFill>
            <a:schemeClr val="accent2"/>
          </a:solidFill>
          <a:ln/>
        </p:spPr>
      </p:sp>
      <p:pic>
        <p:nvPicPr>
          <p:cNvPr id="5" name="F5 icon" descr="F5">    </p:cNvPr>
          <p:cNvPicPr>
            <a:picLocks noChangeAspect="1"/>
          </p:cNvPicPr>
          <p:nvPr/>
        </p:nvPicPr>
        <p:blipFill>
          <a:blip r:embed="rId1"/>
          <a:stretch>
            <a:fillRect/>
          </a:stretch>
        </p:blipFill>
        <p:spPr>
          <a:xfrm>
            <a:off x="1040130" y="2640330"/>
            <a:ext cx="525780" cy="525780"/>
          </a:xfrm>
          <a:prstGeom prst="rect">
            <a:avLst/>
          </a:prstGeom>
        </p:spPr>
      </p:pic>
      <p:sp>
        <p:nvSpPr>
          <p:cNvPr id="6" name="Indicatie"/>
          <p:cNvSpPr txBox="1"/>
          <p:nvPr/>
        </p:nvSpPr>
        <p:spPr>
          <a:xfrm>
            <a:off x="2194560" y="5120640"/>
            <a:ext cx="9144000" cy="4572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Pe fiecare slide: A | B | Server, rezultatul așteptat, dovada și bifa PASS / FAIL / NOT RUN.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T-U01  </a:t>
            </a:r>
            <a:pPr algn="l" indent="0" marL="0">
              <a:buNone/>
            </a:pPr>
            <a:r>
              <a:rPr lang="en-US" sz="3600" b="1" dirty="0">
                <a:solidFill>
                  <a:schemeClr val="tx1"/>
                </a:solidFill>
                <a:latin typeface="Cambria" pitchFamily="34" charset="0"/>
                <a:ea typeface="Cambria" pitchFamily="34" charset="-122"/>
                <a:cs typeface="Cambria" pitchFamily="34" charset="-120"/>
              </a:rPr>
              <a:t>B intră cu contul U2</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F5 · Doi useri: izolarea datelor  ·  pasul 1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Rămâne logat cu U1 și nu face nimic. Datele lui U1 rămân neatinse.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datele U1 neatinse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Se deloghează și intră cu U2. Nu trebuie să vadă nimic din datele lui U1.</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5"/>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LIPSĂ</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nimic din U1</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/admin/test: B apare acum cu userul U2, iar A rămâne pe U1.</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 = U2</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de pe B cu lista goală a lui U2 și /admin/test cu userii.</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T-U02  </a:t>
            </a:r>
            <a:pPr algn="l" indent="0" marL="0">
              <a:buNone/>
            </a:pPr>
            <a:r>
              <a:rPr lang="en-US" sz="3600" b="1" dirty="0">
                <a:solidFill>
                  <a:schemeClr val="tx1"/>
                </a:solidFill>
                <a:latin typeface="Cambria" pitchFamily="34" charset="0"/>
                <a:ea typeface="Cambria" pitchFamily="34" charset="-122"/>
                <a:cs typeface="Cambria" pitchFamily="34" charset="-120"/>
              </a:rPr>
              <a:t>U2 creează camera „Hol”</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F5 · Doi useri: izolarea datelor  ·  pasul 2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(U1) Urmărește lista de camere: „Hol” nu trebuie să apară.</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5"/>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LIPSĂ</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„Hol” lipsește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(U2) Scanează și salvează camera „Hol”.</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„Hol” salvată</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Rândurile pentru „Hol” au user_id = U2.</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user_id = U2</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Lista de camere de pe A și rândul „Hol” cu user_id U2.</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T-U03  </a:t>
            </a:r>
            <a:pPr algn="l" indent="0" marL="0">
              <a:buNone/>
            </a:pPr>
            <a:r>
              <a:rPr lang="en-US" sz="3600" b="1" dirty="0">
                <a:solidFill>
                  <a:schemeClr val="tx1"/>
                </a:solidFill>
                <a:latin typeface="Cambria" pitchFamily="34" charset="0"/>
                <a:ea typeface="Cambria" pitchFamily="34" charset="-122"/>
                <a:cs typeface="Cambria" pitchFamily="34" charset="-120"/>
              </a:rPr>
              <a:t>Test negativ API</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F5 · Doi useri: izolarea datelor  ·  pasul 3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la acest pas.</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bg1"/>
          </a:solidFill>
          <a:ln w="15875">
            <a:solidFill>
              <a:schemeClr val="tx2"/>
            </a:solidFill>
            <a:prstDash val="dash"/>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12"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3" name="B cerc"/>
          <p:cNvSpPr/>
          <p:nvPr/>
        </p:nvSpPr>
        <p:spPr>
          <a:xfrm>
            <a:off x="4489704" y="1737360"/>
            <a:ext cx="548640" cy="548640"/>
          </a:xfrm>
          <a:prstGeom prst="ellipse">
            <a:avLst/>
          </a:prstGeom>
          <a:solidFill>
            <a:schemeClr val="accent2"/>
          </a:solidFill>
          <a:ln/>
        </p:spPr>
      </p:sp>
      <p:pic>
        <p:nvPicPr>
          <p:cNvPr id="14"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5"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6"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Cererea se face cu tokenul lui U2.</a:t>
            </a:r>
            <a:endParaRPr lang="en-US" sz="1600" dirty="0"/>
          </a:p>
        </p:txBody>
      </p:sp>
      <p:sp>
        <p:nvSpPr>
          <p:cNvPr id="17"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8"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19"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0"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1" name="Server cerc"/>
          <p:cNvSpPr/>
          <p:nvPr/>
        </p:nvSpPr>
        <p:spPr>
          <a:xfrm>
            <a:off x="8339328" y="1737360"/>
            <a:ext cx="548640" cy="548640"/>
          </a:xfrm>
          <a:prstGeom prst="ellipse">
            <a:avLst/>
          </a:prstGeom>
          <a:solidFill>
            <a:schemeClr val="accent3"/>
          </a:solidFill>
          <a:ln/>
        </p:spPr>
      </p:sp>
      <p:pic>
        <p:nvPicPr>
          <p:cNvPr id="22"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3"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4"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U2 cere un obiect al lui U1 după id. Răspuns așteptat: 404 sau 403, zero scurgeri.</a:t>
            </a:r>
            <a:endParaRPr lang="en-US" sz="1600" dirty="0"/>
          </a:p>
        </p:txBody>
      </p:sp>
      <p:sp>
        <p:nvSpPr>
          <p:cNvPr id="25"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6" name="Stare Server"/>
          <p:cNvSpPr/>
          <p:nvPr/>
        </p:nvSpPr>
        <p:spPr>
          <a:xfrm>
            <a:off x="8339328" y="4023360"/>
            <a:ext cx="3209544" cy="457200"/>
          </a:xfrm>
          <a:prstGeom prst="roundRect">
            <a:avLst>
              <a:gd name="adj" fmla="val 12000"/>
            </a:avLst>
          </a:prstGeom>
          <a:solidFill>
            <a:schemeClr val="accent5"/>
          </a:solidFill>
          <a:ln/>
        </p:spPr>
      </p:sp>
      <p:sp>
        <p:nvSpPr>
          <p:cNvPr id="27"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LIPSĂ</a:t>
            </a:r>
            <a:endParaRPr lang="en-US" sz="1800" dirty="0"/>
          </a:p>
        </p:txBody>
      </p:sp>
      <p:sp>
        <p:nvSpPr>
          <p:cNvPr id="28"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404 / 403, zero date</a:t>
            </a:r>
            <a:endParaRPr lang="en-US" sz="1400" dirty="0"/>
          </a:p>
        </p:txBody>
      </p:sp>
      <p:sp>
        <p:nvSpPr>
          <p:cNvPr id="29"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0" name="Dovada cerc"/>
          <p:cNvSpPr/>
          <p:nvPr/>
        </p:nvSpPr>
        <p:spPr>
          <a:xfrm>
            <a:off x="640080" y="5138928"/>
            <a:ext cx="411480" cy="411480"/>
          </a:xfrm>
          <a:prstGeom prst="ellipse">
            <a:avLst/>
          </a:prstGeom>
          <a:solidFill>
            <a:schemeClr val="tx2"/>
          </a:solidFill>
          <a:ln/>
        </p:spPr>
      </p:sp>
      <p:pic>
        <p:nvPicPr>
          <p:cNvPr id="31"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2"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3"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Cererea și răspunsul: cod 404/403, corp fără date ale lui U1.</a:t>
            </a:r>
            <a:endParaRPr lang="en-US" sz="1600" dirty="0"/>
          </a:p>
        </p:txBody>
      </p:sp>
      <p:sp>
        <p:nvSpPr>
          <p:cNvPr id="34"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5"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6"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7"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38"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39"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0"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1"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T-U04  </a:t>
            </a:r>
            <a:pPr algn="l" indent="0" marL="0">
              <a:buNone/>
            </a:pPr>
            <a:r>
              <a:rPr lang="en-US" sz="3600" b="1" dirty="0">
                <a:solidFill>
                  <a:schemeClr val="tx1"/>
                </a:solidFill>
                <a:latin typeface="Cambria" pitchFamily="34" charset="0"/>
                <a:ea typeface="Cambria" pitchFamily="34" charset="-122"/>
                <a:cs typeface="Cambria" pitchFamily="34" charset="-120"/>
              </a:rPr>
              <a:t>Partajare explicită a unui pachet</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F5 · Doi useri: izolarea datelor  ·  pasul 4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(U1) Partajează explicit un pachet din magazie cu U2. Dacă funcția nu există: NOT RUN.</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pachet partajat</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(U2) Vede doar pachetul partajat. Restul datelor lui U1 lipsesc.</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doar pachetul</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Partajarea e înregistrată doar pentru acel pachet. Nimic altceva nu devine vizibil pentru U2.</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un singur pachet</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magazie pe B cu un singur pachet vizibil. Fără funcție: NOT RUN.</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2194560" y="2240280"/>
            <a:ext cx="932688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F6 · WAN, în afara rețelei locale</a:t>
            </a:r>
            <a:endParaRPr lang="en-US" sz="4000" dirty="0"/>
          </a:p>
        </p:txBody>
      </p:sp>
      <p:sp>
        <p:nvSpPr>
          <p:cNvPr id="3" name="Text 0"/>
          <p:cNvSpPr/>
          <p:nvPr>
            <p:ph idx="101" type="body" hasCustomPrompt="1"/>
          </p:nvPr>
        </p:nvSpPr>
        <p:spPr>
          <a:xfrm>
            <a:off x="2194560" y="3611880"/>
            <a:ext cx="9144000" cy="109728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Telefoanele trec pe 4G/5G sau pe alt Wi-Fi și lucrează prin https://3dscan.eva‑org.com. 4 pași, T‑W01…T‑W04.</a:t>
            </a:r>
            <a:endParaRPr lang="en-US" sz="2000" dirty="0"/>
          </a:p>
        </p:txBody>
      </p:sp>
      <p:sp>
        <p:nvSpPr>
          <p:cNvPr id="4" name="F6 cerc"/>
          <p:cNvSpPr/>
          <p:nvPr/>
        </p:nvSpPr>
        <p:spPr>
          <a:xfrm>
            <a:off x="731520" y="2331720"/>
            <a:ext cx="1143000" cy="1143000"/>
          </a:xfrm>
          <a:prstGeom prst="ellipse">
            <a:avLst/>
          </a:prstGeom>
          <a:solidFill>
            <a:schemeClr val="accent1"/>
          </a:solidFill>
          <a:ln/>
        </p:spPr>
      </p:sp>
      <p:pic>
        <p:nvPicPr>
          <p:cNvPr id="5" name="F6 icon" descr="F6">    </p:cNvPr>
          <p:cNvPicPr>
            <a:picLocks noChangeAspect="1"/>
          </p:cNvPicPr>
          <p:nvPr/>
        </p:nvPicPr>
        <p:blipFill>
          <a:blip r:embed="rId1"/>
          <a:stretch>
            <a:fillRect/>
          </a:stretch>
        </p:blipFill>
        <p:spPr>
          <a:xfrm>
            <a:off x="1040130" y="2640330"/>
            <a:ext cx="525780" cy="525780"/>
          </a:xfrm>
          <a:prstGeom prst="rect">
            <a:avLst/>
          </a:prstGeom>
        </p:spPr>
      </p:pic>
      <p:sp>
        <p:nvSpPr>
          <p:cNvPr id="6" name="Indicatie"/>
          <p:cNvSpPr txBox="1"/>
          <p:nvPr/>
        </p:nvSpPr>
        <p:spPr>
          <a:xfrm>
            <a:off x="2194560" y="5120640"/>
            <a:ext cx="9144000" cy="4572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Pe fiecare slide: A | B | Server, rezultatul așteptat, dovada și bifa PASS / FAIL / NOT RUN.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T-W01  </a:t>
            </a:r>
            <a:pPr algn="l" indent="0" marL="0">
              <a:buNone/>
            </a:pPr>
            <a:r>
              <a:rPr lang="en-US" sz="3600" b="1" dirty="0">
                <a:solidFill>
                  <a:schemeClr val="tx1"/>
                </a:solidFill>
                <a:latin typeface="Cambria" pitchFamily="34" charset="0"/>
                <a:ea typeface="Cambria" pitchFamily="34" charset="-122"/>
                <a:cs typeface="Cambria" pitchFamily="34" charset="-120"/>
              </a:rPr>
              <a:t>A trece pe 4G/5G</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F6 · WAN, în afara rețelei locale  ·  pasul 1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Oprește Wi-Fi și trece pe 4G/5G. Verifică login și sync.</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diagnostic: WAN</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Rămâne pe Wi-Fi-ul LAN și lucrează normal.</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sync normal</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/admin/test: A apare cu rețea WAN, conectat prin https://3dscan.eva‑org.com.</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 WAN</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din modul de diagnostic pe A (WAN) și din /admin/test.</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T-W02  </a:t>
            </a:r>
            <a:pPr algn="l" indent="0" marL="0">
              <a:buNone/>
            </a:pPr>
            <a:r>
              <a:rPr lang="en-US" sz="3600" b="1" dirty="0">
                <a:solidFill>
                  <a:schemeClr val="tx1"/>
                </a:solidFill>
                <a:latin typeface="Cambria" pitchFamily="34" charset="0"/>
                <a:ea typeface="Cambria" pitchFamily="34" charset="-122"/>
                <a:cs typeface="Cambria" pitchFamily="34" charset="-120"/>
              </a:rPr>
              <a:t>T-L02…T-L06 repetate peste WAN</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F6 · WAN, în afara rețelei locale  ·  pasul 2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 4G: refă pașii T‑L02…T‑L06 (cameră, obiecte, adăugare, redenumire, ștergere).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pași refăcuți</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 Wi-Fi LAN: aceleași rezultate ca în F4. Notează timpii de apariție.</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tranzit"/>
          <p:cNvSpPr/>
          <p:nvPr/>
        </p:nvSpPr>
        <p:spPr>
          <a:xfrm>
            <a:off x="4489704" y="4023360"/>
            <a:ext cx="566928" cy="457200"/>
          </a:xfrm>
          <a:prstGeom prst="roundRect">
            <a:avLst>
              <a:gd name="adj" fmla="val 12000"/>
            </a:avLst>
          </a:prstGeom>
          <a:solidFill>
            <a:schemeClr val="accent6"/>
          </a:solidFill>
          <a:ln/>
        </p:spPr>
      </p:sp>
      <p:sp>
        <p:nvSpPr>
          <p:cNvPr id="20"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1"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2" name="Stare B"/>
          <p:cNvSpPr/>
          <p:nvPr/>
        </p:nvSpPr>
        <p:spPr>
          <a:xfrm>
            <a:off x="5330952" y="4023360"/>
            <a:ext cx="2368296" cy="457200"/>
          </a:xfrm>
          <a:prstGeom prst="roundRect">
            <a:avLst>
              <a:gd name="adj" fmla="val 12000"/>
            </a:avLst>
          </a:prstGeom>
          <a:solidFill>
            <a:schemeClr val="accent4"/>
          </a:solidFill>
          <a:ln/>
        </p:spPr>
      </p:sp>
      <p:sp>
        <p:nvSpPr>
          <p:cNvPr id="23"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aceleași rezultate</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Aceleași rânduri și seq ca în F4. Latența și timpul de sync măsurate la fiecare pas.</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latență măsurată</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Tabelul cu latența și timpul de sync, pas cu pas.</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T-W03  </a:t>
            </a:r>
            <a:pPr algn="l" indent="0" marL="0">
              <a:buNone/>
            </a:pPr>
            <a:r>
              <a:rPr lang="en-US" sz="3600" b="1" dirty="0">
                <a:solidFill>
                  <a:schemeClr val="tx1"/>
                </a:solidFill>
                <a:latin typeface="Cambria" pitchFamily="34" charset="0"/>
                <a:ea typeface="Cambria" pitchFamily="34" charset="-122"/>
                <a:cs typeface="Cambria" pitchFamily="34" charset="-120"/>
              </a:rPr>
              <a:t>Fluxuri brute prin Cloudflare Tunnel</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F6 · WAN, în afara rețelei locale  ·  pasul 3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Pe 4G, pornește fluxurile brute 2 minute (WebSocket prin Cloudflare Tunnel).</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fluxuri trimise</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la acest pas.</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1"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2" name="Server cerc"/>
          <p:cNvSpPr/>
          <p:nvPr/>
        </p:nvSpPr>
        <p:spPr>
          <a:xfrm>
            <a:off x="8339328" y="1737360"/>
            <a:ext cx="548640" cy="548640"/>
          </a:xfrm>
          <a:prstGeom prst="ellipse">
            <a:avLst/>
          </a:prstGeom>
          <a:solidFill>
            <a:schemeClr val="accent3"/>
          </a:solidFill>
          <a:ln/>
        </p:spPr>
      </p:sp>
      <p:pic>
        <p:nvPicPr>
          <p:cNvPr id="23"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4"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5"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Fluxul funcționează. Debitul real, latența și cadrele netrimise sunt măsurate și raportate onest.</a:t>
            </a:r>
            <a:endParaRPr lang="en-US" sz="1600" dirty="0"/>
          </a:p>
        </p:txBody>
      </p:sp>
      <p:sp>
        <p:nvSpPr>
          <p:cNvPr id="26"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7" name="Stare Server"/>
          <p:cNvSpPr/>
          <p:nvPr/>
        </p:nvSpPr>
        <p:spPr>
          <a:xfrm>
            <a:off x="8339328" y="4023360"/>
            <a:ext cx="3209544" cy="457200"/>
          </a:xfrm>
          <a:prstGeom prst="roundRect">
            <a:avLst>
              <a:gd name="adj" fmla="val 12000"/>
            </a:avLst>
          </a:prstGeom>
          <a:solidFill>
            <a:schemeClr val="accent4"/>
          </a:solidFill>
          <a:ln/>
        </p:spPr>
      </p:sp>
      <p:sp>
        <p:nvSpPr>
          <p:cNvPr id="28"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9"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debit și latență</a:t>
            </a:r>
            <a:endParaRPr lang="en-US" sz="1400" dirty="0"/>
          </a:p>
        </p:txBody>
      </p:sp>
      <p:sp>
        <p:nvSpPr>
          <p:cNvPr id="30"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1" name="Dovada cerc"/>
          <p:cNvSpPr/>
          <p:nvPr/>
        </p:nvSpPr>
        <p:spPr>
          <a:xfrm>
            <a:off x="640080" y="5138928"/>
            <a:ext cx="411480" cy="411480"/>
          </a:xfrm>
          <a:prstGeom prst="ellipse">
            <a:avLst/>
          </a:prstGeom>
          <a:solidFill>
            <a:schemeClr val="tx2"/>
          </a:solidFill>
          <a:ln/>
        </p:spPr>
      </p:sp>
      <p:pic>
        <p:nvPicPr>
          <p:cNvPr id="32"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3"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4"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Debitul real, latența și numărul de cadre netrimise.</a:t>
            </a:r>
            <a:endParaRPr lang="en-US" sz="1600" dirty="0"/>
          </a:p>
        </p:txBody>
      </p:sp>
      <p:sp>
        <p:nvSpPr>
          <p:cNvPr id="35"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6"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7"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8"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39"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0"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1"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2"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T-W04  </a:t>
            </a:r>
            <a:pPr algn="l" indent="0" marL="0">
              <a:buNone/>
            </a:pPr>
            <a:r>
              <a:rPr lang="en-US" sz="3600" b="1" dirty="0">
                <a:solidFill>
                  <a:schemeClr val="tx1"/>
                </a:solidFill>
                <a:latin typeface="Cambria" pitchFamily="34" charset="0"/>
                <a:ea typeface="Cambria" pitchFamily="34" charset="-122"/>
                <a:cs typeface="Cambria" pitchFamily="34" charset="-120"/>
              </a:rPr>
              <a:t>B pe altă rețea Wi-Fi</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F6 · WAN, în afara rețelei locale  ·  pasul 4 din 4</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Rămâne pe 4G/5G.</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WAN</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Trece pe altă rețea Wi-Fi (de exemplu un hotspot). Login, sync și fluxuri: idem.</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WAN pe hotspot</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Ambele telefoane apar ca WAN. Sync și fluxuri funcționale.</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 și B = WAN</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Captură /admin/test cu A și B pe WAN și latențele lor.</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2194560" y="2240280"/>
            <a:ext cx="932688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F7 · Reziliență</a:t>
            </a:r>
            <a:endParaRPr lang="en-US" sz="4000" dirty="0"/>
          </a:p>
        </p:txBody>
      </p:sp>
      <p:sp>
        <p:nvSpPr>
          <p:cNvPr id="3" name="Text 0"/>
          <p:cNvSpPr/>
          <p:nvPr>
            <p:ph idx="101" type="body" hasCustomPrompt="1"/>
          </p:nvPr>
        </p:nvSpPr>
        <p:spPr>
          <a:xfrm>
            <a:off x="2194560" y="3611880"/>
            <a:ext cx="9144000" cy="109728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Offline și online, schimbarea rețelei, oprirea aplicației, restartul serverului, backup. 5 pași, T‑R01…T‑R05.</a:t>
            </a:r>
            <a:endParaRPr lang="en-US" sz="2000" dirty="0"/>
          </a:p>
        </p:txBody>
      </p:sp>
      <p:sp>
        <p:nvSpPr>
          <p:cNvPr id="4" name="F7 cerc"/>
          <p:cNvSpPr/>
          <p:nvPr/>
        </p:nvSpPr>
        <p:spPr>
          <a:xfrm>
            <a:off x="731520" y="2331720"/>
            <a:ext cx="1143000" cy="1143000"/>
          </a:xfrm>
          <a:prstGeom prst="ellipse">
            <a:avLst/>
          </a:prstGeom>
          <a:solidFill>
            <a:schemeClr val="accent6"/>
          </a:solidFill>
          <a:ln/>
        </p:spPr>
      </p:sp>
      <p:pic>
        <p:nvPicPr>
          <p:cNvPr id="5" name="F7 icon" descr="F7">    </p:cNvPr>
          <p:cNvPicPr>
            <a:picLocks noChangeAspect="1"/>
          </p:cNvPicPr>
          <p:nvPr/>
        </p:nvPicPr>
        <p:blipFill>
          <a:blip r:embed="rId1"/>
          <a:stretch>
            <a:fillRect/>
          </a:stretch>
        </p:blipFill>
        <p:spPr>
          <a:xfrm>
            <a:off x="1040130" y="2640330"/>
            <a:ext cx="525780" cy="525780"/>
          </a:xfrm>
          <a:prstGeom prst="rect">
            <a:avLst/>
          </a:prstGeom>
        </p:spPr>
      </p:pic>
      <p:sp>
        <p:nvSpPr>
          <p:cNvPr id="6" name="Indicatie"/>
          <p:cNvSpPr txBox="1"/>
          <p:nvPr/>
        </p:nvSpPr>
        <p:spPr>
          <a:xfrm>
            <a:off x="2194560" y="5120640"/>
            <a:ext cx="9144000" cy="4572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Pe fiecare slide: A | B | Server, rezultatul așteptat, dovada și bifa PASS / FAIL / NOT RUN.</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bg2"/>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T-R01  </a:t>
            </a:r>
            <a:pPr algn="l" indent="0" marL="0">
              <a:buNone/>
            </a:pPr>
            <a:r>
              <a:rPr lang="en-US" sz="3600" b="1" dirty="0">
                <a:solidFill>
                  <a:schemeClr val="tx1"/>
                </a:solidFill>
                <a:latin typeface="Cambria" pitchFamily="34" charset="0"/>
                <a:ea typeface="Cambria" pitchFamily="34" charset="-122"/>
                <a:cs typeface="Cambria" pitchFamily="34" charset="-120"/>
              </a:rPr>
              <a:t>Mod avion, 3 modificări offline</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F7 · Reziliență  ·  pasul 1 din 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Trece în mod avion, modifică 3 obiecte, apoi revine online.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în coadă, apoi trimise</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Cele 3 modificări apar după ce A revine online.</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tranzit"/>
          <p:cNvSpPr/>
          <p:nvPr/>
        </p:nvSpPr>
        <p:spPr>
          <a:xfrm>
            <a:off x="4489704" y="4023360"/>
            <a:ext cx="566928" cy="457200"/>
          </a:xfrm>
          <a:prstGeom prst="roundRect">
            <a:avLst>
              <a:gd name="adj" fmla="val 12000"/>
            </a:avLst>
          </a:prstGeom>
          <a:solidFill>
            <a:schemeClr val="accent6"/>
          </a:solidFill>
          <a:ln/>
        </p:spPr>
      </p:sp>
      <p:sp>
        <p:nvSpPr>
          <p:cNvPr id="23"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4"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5" name="Stare B"/>
          <p:cNvSpPr/>
          <p:nvPr/>
        </p:nvSpPr>
        <p:spPr>
          <a:xfrm>
            <a:off x="5330952" y="4023360"/>
            <a:ext cx="2368296" cy="457200"/>
          </a:xfrm>
          <a:prstGeom prst="roundRect">
            <a:avLst>
              <a:gd name="adj" fmla="val 12000"/>
            </a:avLst>
          </a:prstGeom>
          <a:solidFill>
            <a:schemeClr val="accent4"/>
          </a:solidFill>
          <a:ln/>
        </p:spPr>
      </p:sp>
      <p:sp>
        <p:nvSpPr>
          <p:cNvPr id="26"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7"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3 din 3</a:t>
            </a:r>
            <a:endParaRPr lang="en-US" sz="1400" dirty="0"/>
          </a:p>
        </p:txBody>
      </p:sp>
      <p:sp>
        <p:nvSpPr>
          <p:cNvPr id="28"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9" name="Server cerc"/>
          <p:cNvSpPr/>
          <p:nvPr/>
        </p:nvSpPr>
        <p:spPr>
          <a:xfrm>
            <a:off x="8339328" y="1737360"/>
            <a:ext cx="548640" cy="548640"/>
          </a:xfrm>
          <a:prstGeom prst="ellipse">
            <a:avLst/>
          </a:prstGeom>
          <a:solidFill>
            <a:schemeClr val="accent3"/>
          </a:solidFill>
          <a:ln/>
        </p:spPr>
      </p:sp>
      <p:pic>
        <p:nvPicPr>
          <p:cNvPr id="30"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31"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32"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Primește cele 3 modificări cu seq nou, chiar dacă updated_at e vechi (scenariul C07).</a:t>
            </a:r>
            <a:endParaRPr lang="en-US" sz="1600" dirty="0"/>
          </a:p>
        </p:txBody>
      </p:sp>
      <p:sp>
        <p:nvSpPr>
          <p:cNvPr id="33"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4" name="Stare Server"/>
          <p:cNvSpPr/>
          <p:nvPr/>
        </p:nvSpPr>
        <p:spPr>
          <a:xfrm>
            <a:off x="8339328" y="4023360"/>
            <a:ext cx="3209544" cy="457200"/>
          </a:xfrm>
          <a:prstGeom prst="roundRect">
            <a:avLst>
              <a:gd name="adj" fmla="val 12000"/>
            </a:avLst>
          </a:prstGeom>
          <a:solidFill>
            <a:schemeClr val="accent4"/>
          </a:solidFill>
          <a:ln/>
        </p:spPr>
      </p:sp>
      <p:sp>
        <p:nvSpPr>
          <p:cNvPr id="35"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6"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seq nou</a:t>
            </a:r>
            <a:endParaRPr lang="en-US" sz="1400" dirty="0"/>
          </a:p>
        </p:txBody>
      </p:sp>
      <p:sp>
        <p:nvSpPr>
          <p:cNvPr id="37"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8" name="Dovada cerc"/>
          <p:cNvSpPr/>
          <p:nvPr/>
        </p:nvSpPr>
        <p:spPr>
          <a:xfrm>
            <a:off x="640080" y="5138928"/>
            <a:ext cx="411480" cy="411480"/>
          </a:xfrm>
          <a:prstGeom prst="ellipse">
            <a:avLst/>
          </a:prstGeom>
          <a:solidFill>
            <a:schemeClr val="tx2"/>
          </a:solidFill>
          <a:ln/>
        </p:spPr>
      </p:sp>
      <p:pic>
        <p:nvPicPr>
          <p:cNvPr id="39"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40"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41"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Cele 3 seq-uri noi, alături de updated_at-urile vechi.</a:t>
            </a:r>
            <a:endParaRPr lang="en-US" sz="1600" dirty="0"/>
          </a:p>
        </p:txBody>
      </p:sp>
      <p:sp>
        <p:nvSpPr>
          <p:cNvPr id="42"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3"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4"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5"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6"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7"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8"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9"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T-R02  </a:t>
            </a:r>
            <a:pPr algn="l" indent="0" marL="0">
              <a:buNone/>
            </a:pPr>
            <a:r>
              <a:rPr lang="en-US" sz="3600" b="1" dirty="0">
                <a:solidFill>
                  <a:schemeClr val="tx1"/>
                </a:solidFill>
                <a:latin typeface="Cambria" pitchFamily="34" charset="0"/>
                <a:ea typeface="Cambria" pitchFamily="34" charset="-122"/>
                <a:cs typeface="Cambria" pitchFamily="34" charset="-120"/>
              </a:rPr>
              <a:t>Wi-Fi → 4G în timpul fluxurilor</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F7 · Reziliență  ·  pasul 2 din 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Cu fluxurile pornite, oprește Wi-Fi. Telefonul trece singur pe 4G.</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reconectare automată</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 participă la acest pas.</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p:cNvSpPr/>
          <p:nvPr/>
        </p:nvSpPr>
        <p:spPr>
          <a:xfrm>
            <a:off x="4489704" y="4023360"/>
            <a:ext cx="3209544" cy="457200"/>
          </a:xfrm>
          <a:prstGeom prst="roundRect">
            <a:avLst>
              <a:gd name="adj" fmla="val 12000"/>
            </a:avLst>
          </a:prstGeom>
          <a:solidFill>
            <a:schemeClr val="bg1"/>
          </a:solidFill>
          <a:ln w="15875">
            <a:solidFill>
              <a:schemeClr val="tx2"/>
            </a:solidFill>
            <a:prstDash val="dash"/>
          </a:ln>
        </p:spPr>
      </p:sp>
      <p:sp>
        <p:nvSpPr>
          <p:cNvPr id="23"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 NU PARTICIPĂ</a:t>
            </a:r>
            <a:endParaRPr lang="en-US" sz="1800" dirty="0"/>
          </a:p>
        </p:txBody>
      </p:sp>
      <p:sp>
        <p:nvSpPr>
          <p:cNvPr id="24"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5" name="Server cerc"/>
          <p:cNvSpPr/>
          <p:nvPr/>
        </p:nvSpPr>
        <p:spPr>
          <a:xfrm>
            <a:off x="8339328" y="1737360"/>
            <a:ext cx="548640" cy="548640"/>
          </a:xfrm>
          <a:prstGeom prst="ellipse">
            <a:avLst/>
          </a:prstGeom>
          <a:solidFill>
            <a:schemeClr val="accent3"/>
          </a:solidFill>
          <a:ln/>
        </p:spPr>
      </p:sp>
      <p:pic>
        <p:nvPicPr>
          <p:cNvPr id="26"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7"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8"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Golul e marcat cu motiv. Nimic din ce s-a trimis nu se pierde.</a:t>
            </a:r>
            <a:endParaRPr lang="en-US" sz="1600" dirty="0"/>
          </a:p>
        </p:txBody>
      </p:sp>
      <p:sp>
        <p:nvSpPr>
          <p:cNvPr id="29"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0" name="Stare Server"/>
          <p:cNvSpPr/>
          <p:nvPr/>
        </p:nvSpPr>
        <p:spPr>
          <a:xfrm>
            <a:off x="8339328" y="4023360"/>
            <a:ext cx="3209544" cy="457200"/>
          </a:xfrm>
          <a:prstGeom prst="roundRect">
            <a:avLst>
              <a:gd name="adj" fmla="val 12000"/>
            </a:avLst>
          </a:prstGeom>
          <a:solidFill>
            <a:schemeClr val="accent4"/>
          </a:solidFill>
          <a:ln/>
        </p:spPr>
      </p:sp>
      <p:sp>
        <p:nvSpPr>
          <p:cNvPr id="31"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2"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gol marcat cu motiv</a:t>
            </a:r>
            <a:endParaRPr lang="en-US" sz="1400" dirty="0"/>
          </a:p>
        </p:txBody>
      </p:sp>
      <p:sp>
        <p:nvSpPr>
          <p:cNvPr id="33"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4" name="Dovada cerc"/>
          <p:cNvSpPr/>
          <p:nvPr/>
        </p:nvSpPr>
        <p:spPr>
          <a:xfrm>
            <a:off x="640080" y="5138928"/>
            <a:ext cx="411480" cy="411480"/>
          </a:xfrm>
          <a:prstGeom prst="ellipse">
            <a:avLst/>
          </a:prstGeom>
          <a:solidFill>
            <a:schemeClr val="tx2"/>
          </a:solidFill>
          <a:ln/>
        </p:spPr>
      </p:sp>
      <p:pic>
        <p:nvPicPr>
          <p:cNvPr id="35"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6"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7"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Golul marcat (interval și motiv) și contoarele de cadre.</a:t>
            </a:r>
            <a:endParaRPr lang="en-US" sz="1600" dirty="0"/>
          </a:p>
        </p:txBody>
      </p:sp>
      <p:sp>
        <p:nvSpPr>
          <p:cNvPr id="38"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9"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0"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1"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2"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3"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4"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5"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T-R03  </a:t>
            </a:r>
            <a:pPr algn="l" indent="0" marL="0">
              <a:buNone/>
            </a:pPr>
            <a:r>
              <a:rPr lang="en-US" sz="3600" b="1" dirty="0">
                <a:solidFill>
                  <a:schemeClr val="tx1"/>
                </a:solidFill>
                <a:latin typeface="Cambria" pitchFamily="34" charset="0"/>
                <a:ea typeface="Cambria" pitchFamily="34" charset="-122"/>
                <a:cs typeface="Cambria" pitchFamily="34" charset="-120"/>
              </a:rPr>
              <a:t>Oprire forțată în timpul unui upload</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F7 · Reziliență  ·  pasul 3 din 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Pornește un upload (de exemplu un clip), oprește forțat aplicația, apoi o repornește.</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upload reluat</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Vede rezultatul o singură dată, fără duplicate.</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p:cNvSpPr/>
          <p:nvPr/>
        </p:nvSpPr>
        <p:spPr>
          <a:xfrm>
            <a:off x="4489704" y="4023360"/>
            <a:ext cx="3209544" cy="457200"/>
          </a:xfrm>
          <a:prstGeom prst="roundRect">
            <a:avLst>
              <a:gd name="adj" fmla="val 12000"/>
            </a:avLst>
          </a:prstGeom>
          <a:solidFill>
            <a:schemeClr val="accent4"/>
          </a:solidFill>
          <a:ln/>
        </p:spPr>
      </p:sp>
      <p:sp>
        <p:nvSpPr>
          <p:cNvPr id="23"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4"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 singură dată</a:t>
            </a:r>
            <a:endParaRPr lang="en-US" sz="1400" dirty="0"/>
          </a:p>
        </p:txBody>
      </p:sp>
      <p:sp>
        <p:nvSpPr>
          <p:cNvPr id="25"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6" name="Server cerc"/>
          <p:cNvSpPr/>
          <p:nvPr/>
        </p:nvSpPr>
        <p:spPr>
          <a:xfrm>
            <a:off x="8339328" y="1737360"/>
            <a:ext cx="548640" cy="548640"/>
          </a:xfrm>
          <a:prstGeom prst="ellipse">
            <a:avLst/>
          </a:prstGeom>
          <a:solidFill>
            <a:schemeClr val="accent3"/>
          </a:solidFill>
          <a:ln/>
        </p:spPr>
      </p:sp>
      <p:pic>
        <p:nvPicPr>
          <p:cNvPr id="27"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8"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9"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Upload-ul se reia. Un singur rând, datorită idempotency_key.</a:t>
            </a:r>
            <a:endParaRPr lang="en-US" sz="1600" dirty="0"/>
          </a:p>
        </p:txBody>
      </p:sp>
      <p:sp>
        <p:nvSpPr>
          <p:cNvPr id="30"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1" name="Stare Server"/>
          <p:cNvSpPr/>
          <p:nvPr/>
        </p:nvSpPr>
        <p:spPr>
          <a:xfrm>
            <a:off x="8339328" y="4023360"/>
            <a:ext cx="3209544" cy="457200"/>
          </a:xfrm>
          <a:prstGeom prst="roundRect">
            <a:avLst>
              <a:gd name="adj" fmla="val 12000"/>
            </a:avLst>
          </a:prstGeom>
          <a:solidFill>
            <a:schemeClr val="accent4"/>
          </a:solidFill>
          <a:ln/>
        </p:spPr>
      </p:sp>
      <p:sp>
        <p:nvSpPr>
          <p:cNvPr id="32"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3"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fără duplicate</a:t>
            </a:r>
            <a:endParaRPr lang="en-US" sz="1400" dirty="0"/>
          </a:p>
        </p:txBody>
      </p:sp>
      <p:sp>
        <p:nvSpPr>
          <p:cNvPr id="34"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5" name="Dovada cerc"/>
          <p:cNvSpPr/>
          <p:nvPr/>
        </p:nvSpPr>
        <p:spPr>
          <a:xfrm>
            <a:off x="640080" y="5138928"/>
            <a:ext cx="411480" cy="411480"/>
          </a:xfrm>
          <a:prstGeom prst="ellipse">
            <a:avLst/>
          </a:prstGeom>
          <a:solidFill>
            <a:schemeClr val="tx2"/>
          </a:solidFill>
          <a:ln/>
        </p:spPr>
      </p:sp>
      <p:pic>
        <p:nvPicPr>
          <p:cNvPr id="36"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7"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8"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idempotency_key și numărul de rânduri (trebuie să fie 1).</a:t>
            </a:r>
            <a:endParaRPr lang="en-US" sz="1600" dirty="0"/>
          </a:p>
        </p:txBody>
      </p:sp>
      <p:sp>
        <p:nvSpPr>
          <p:cNvPr id="39"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0"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1"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2"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3"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4"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5"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6"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T-R04  </a:t>
            </a:r>
            <a:pPr algn="l" indent="0" marL="0">
              <a:buNone/>
            </a:pPr>
            <a:r>
              <a:rPr lang="en-US" sz="3600" b="1" dirty="0">
                <a:solidFill>
                  <a:schemeClr val="tx1"/>
                </a:solidFill>
                <a:latin typeface="Cambria" pitchFamily="34" charset="0"/>
                <a:ea typeface="Cambria" pitchFamily="34" charset="-122"/>
                <a:cs typeface="Cambria" pitchFamily="34" charset="-120"/>
              </a:rPr>
              <a:t>Restart al serviciului app pe server</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F7 · Reziliență  ·  pasul 4 din 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Continuă să folosească aplicația în timpul restartului.</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tranzit"/>
          <p:cNvSpPr/>
          <p:nvPr/>
        </p:nvSpPr>
        <p:spPr>
          <a:xfrm>
            <a:off x="640080" y="4023360"/>
            <a:ext cx="566928" cy="457200"/>
          </a:xfrm>
          <a:prstGeom prst="roundRect">
            <a:avLst>
              <a:gd name="adj" fmla="val 12000"/>
            </a:avLst>
          </a:prstGeom>
          <a:solidFill>
            <a:schemeClr val="accent6"/>
          </a:solidFill>
          <a:ln/>
        </p:spPr>
      </p:sp>
      <p:sp>
        <p:nvSpPr>
          <p:cNvPr id="11" name="Stare A tranzit text"/>
          <p:cNvSpPr txBox="1"/>
          <p:nvPr/>
        </p:nvSpPr>
        <p:spPr>
          <a:xfrm>
            <a:off x="640080"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12" name="Stare A sageata"/>
          <p:cNvSpPr txBox="1"/>
          <p:nvPr/>
        </p:nvSpPr>
        <p:spPr>
          <a:xfrm>
            <a:off x="1207008"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13" name="Stare A"/>
          <p:cNvSpPr/>
          <p:nvPr/>
        </p:nvSpPr>
        <p:spPr>
          <a:xfrm>
            <a:off x="1481328" y="4023360"/>
            <a:ext cx="2368296" cy="457200"/>
          </a:xfrm>
          <a:prstGeom prst="roundRect">
            <a:avLst>
              <a:gd name="adj" fmla="val 12000"/>
            </a:avLst>
          </a:prstGeom>
          <a:solidFill>
            <a:schemeClr val="accent4"/>
          </a:solidFill>
          <a:ln/>
        </p:spPr>
      </p:sp>
      <p:sp>
        <p:nvSpPr>
          <p:cNvPr id="14" name="Stare A text"/>
          <p:cNvSpPr txBox="1"/>
          <p:nvPr/>
        </p:nvSpPr>
        <p:spPr>
          <a:xfrm>
            <a:off x="1481328"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5"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sync reluat</a:t>
            </a:r>
            <a:endParaRPr lang="en-US" sz="1400" dirty="0"/>
          </a:p>
        </p:txBody>
      </p:sp>
      <p:sp>
        <p:nvSpPr>
          <p:cNvPr id="16"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7" name="B cerc"/>
          <p:cNvSpPr/>
          <p:nvPr/>
        </p:nvSpPr>
        <p:spPr>
          <a:xfrm>
            <a:off x="4489704" y="1737360"/>
            <a:ext cx="548640" cy="548640"/>
          </a:xfrm>
          <a:prstGeom prst="ellipse">
            <a:avLst/>
          </a:prstGeom>
          <a:solidFill>
            <a:schemeClr val="accent2"/>
          </a:solidFill>
          <a:ln/>
        </p:spPr>
      </p:sp>
      <p:pic>
        <p:nvPicPr>
          <p:cNvPr id="18"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9"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20"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Continuă să folosească aplicația în timpul restartului.</a:t>
            </a:r>
            <a:endParaRPr lang="en-US" sz="1600" dirty="0"/>
          </a:p>
        </p:txBody>
      </p:sp>
      <p:sp>
        <p:nvSpPr>
          <p:cNvPr id="21"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2" name="Stare B tranzit"/>
          <p:cNvSpPr/>
          <p:nvPr/>
        </p:nvSpPr>
        <p:spPr>
          <a:xfrm>
            <a:off x="4489704" y="4023360"/>
            <a:ext cx="566928" cy="457200"/>
          </a:xfrm>
          <a:prstGeom prst="roundRect">
            <a:avLst>
              <a:gd name="adj" fmla="val 12000"/>
            </a:avLst>
          </a:prstGeom>
          <a:solidFill>
            <a:schemeClr val="accent6"/>
          </a:solidFill>
          <a:ln/>
        </p:spPr>
      </p:sp>
      <p:sp>
        <p:nvSpPr>
          <p:cNvPr id="23" name="Stare B tranzit text"/>
          <p:cNvSpPr txBox="1"/>
          <p:nvPr/>
        </p:nvSpPr>
        <p:spPr>
          <a:xfrm>
            <a:off x="4489704" y="4023360"/>
            <a:ext cx="566928"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a:t>
            </a:r>
            <a:endParaRPr lang="en-US" sz="1800" dirty="0"/>
          </a:p>
        </p:txBody>
      </p:sp>
      <p:sp>
        <p:nvSpPr>
          <p:cNvPr id="24" name="Stare B sageata"/>
          <p:cNvSpPr txBox="1"/>
          <p:nvPr/>
        </p:nvSpPr>
        <p:spPr>
          <a:xfrm>
            <a:off x="5056632" y="4023360"/>
            <a:ext cx="274320" cy="457200"/>
          </a:xfrm>
          <a:prstGeom prst="rect">
            <a:avLst/>
          </a:prstGeom>
          <a:noFill/>
          <a:ln/>
        </p:spPr>
        <p:txBody>
          <a:bodyPr wrap="square" lIns="0" tIns="0" rIns="0" bIns="0" rtlCol="0" anchor="ctr"/>
          <a:lstStyle/>
          <a:p>
            <a:pPr algn="ctr" indent="0" marL="0">
              <a:buNone/>
            </a:pPr>
            <a:r>
              <a:rPr lang="en-US" sz="1800" b="1" dirty="0">
                <a:solidFill>
                  <a:schemeClr val="tx2"/>
                </a:solidFill>
                <a:latin typeface="Calibri" pitchFamily="34" charset="0"/>
                <a:ea typeface="Calibri" pitchFamily="34" charset="-122"/>
                <a:cs typeface="Calibri" pitchFamily="34" charset="-120"/>
              </a:rPr>
              <a:t>→</a:t>
            </a:r>
            <a:endParaRPr lang="en-US" sz="1800" dirty="0"/>
          </a:p>
        </p:txBody>
      </p:sp>
      <p:sp>
        <p:nvSpPr>
          <p:cNvPr id="25" name="Stare B"/>
          <p:cNvSpPr/>
          <p:nvPr/>
        </p:nvSpPr>
        <p:spPr>
          <a:xfrm>
            <a:off x="5330952" y="4023360"/>
            <a:ext cx="2368296" cy="457200"/>
          </a:xfrm>
          <a:prstGeom prst="roundRect">
            <a:avLst>
              <a:gd name="adj" fmla="val 12000"/>
            </a:avLst>
          </a:prstGeom>
          <a:solidFill>
            <a:schemeClr val="accent4"/>
          </a:solidFill>
          <a:ln/>
        </p:spPr>
      </p:sp>
      <p:sp>
        <p:nvSpPr>
          <p:cNvPr id="26" name="Stare B text"/>
          <p:cNvSpPr txBox="1"/>
          <p:nvPr/>
        </p:nvSpPr>
        <p:spPr>
          <a:xfrm>
            <a:off x="5330952" y="4023360"/>
            <a:ext cx="2368296"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7"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sync reluat</a:t>
            </a:r>
            <a:endParaRPr lang="en-US" sz="1400" dirty="0"/>
          </a:p>
        </p:txBody>
      </p:sp>
      <p:sp>
        <p:nvSpPr>
          <p:cNvPr id="28"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9" name="Server cerc"/>
          <p:cNvSpPr/>
          <p:nvPr/>
        </p:nvSpPr>
        <p:spPr>
          <a:xfrm>
            <a:off x="8339328" y="1737360"/>
            <a:ext cx="548640" cy="548640"/>
          </a:xfrm>
          <a:prstGeom prst="ellipse">
            <a:avLst/>
          </a:prstGeom>
          <a:solidFill>
            <a:schemeClr val="accent3"/>
          </a:solidFill>
          <a:ln/>
        </p:spPr>
      </p:sp>
      <p:pic>
        <p:nvPicPr>
          <p:cNvPr id="30"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31"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32"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SERVER repornește serviciul app. După revenire: nicio modificare pierdută.</a:t>
            </a:r>
            <a:endParaRPr lang="en-US" sz="1600" dirty="0"/>
          </a:p>
        </p:txBody>
      </p:sp>
      <p:sp>
        <p:nvSpPr>
          <p:cNvPr id="33"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34" name="Stare Server"/>
          <p:cNvSpPr/>
          <p:nvPr/>
        </p:nvSpPr>
        <p:spPr>
          <a:xfrm>
            <a:off x="8339328" y="4023360"/>
            <a:ext cx="3209544" cy="457200"/>
          </a:xfrm>
          <a:prstGeom prst="roundRect">
            <a:avLst>
              <a:gd name="adj" fmla="val 12000"/>
            </a:avLst>
          </a:prstGeom>
          <a:solidFill>
            <a:schemeClr val="accent4"/>
          </a:solidFill>
          <a:ln/>
        </p:spPr>
      </p:sp>
      <p:sp>
        <p:nvSpPr>
          <p:cNvPr id="35"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6"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fără pierderi</a:t>
            </a:r>
            <a:endParaRPr lang="en-US" sz="1400" dirty="0"/>
          </a:p>
        </p:txBody>
      </p:sp>
      <p:sp>
        <p:nvSpPr>
          <p:cNvPr id="37"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8" name="Dovada cerc"/>
          <p:cNvSpPr/>
          <p:nvPr/>
        </p:nvSpPr>
        <p:spPr>
          <a:xfrm>
            <a:off x="640080" y="5138928"/>
            <a:ext cx="411480" cy="411480"/>
          </a:xfrm>
          <a:prstGeom prst="ellipse">
            <a:avLst/>
          </a:prstGeom>
          <a:solidFill>
            <a:schemeClr val="tx2"/>
          </a:solidFill>
          <a:ln/>
        </p:spPr>
      </p:sp>
      <p:pic>
        <p:nvPicPr>
          <p:cNvPr id="39"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40"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41"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Ora restartului și seq-ul de dinainte și de după.</a:t>
            </a:r>
            <a:endParaRPr lang="en-US" sz="1600" dirty="0"/>
          </a:p>
        </p:txBody>
      </p:sp>
      <p:sp>
        <p:nvSpPr>
          <p:cNvPr id="42"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43"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44"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45"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6"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7"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8"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9"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accent1"/>
                </a:solidFill>
                <a:latin typeface="Cambria" pitchFamily="34" charset="0"/>
                <a:ea typeface="Cambria" pitchFamily="34" charset="-122"/>
                <a:cs typeface="Cambria" pitchFamily="34" charset="-120"/>
              </a:rPr>
              <a:t>T-R05  </a:t>
            </a:r>
            <a:pPr algn="l" indent="0" marL="0">
              <a:buNone/>
            </a:pPr>
            <a:r>
              <a:rPr lang="en-US" sz="3600" b="1" dirty="0">
                <a:solidFill>
                  <a:schemeClr val="tx1"/>
                </a:solidFill>
                <a:latin typeface="Cambria" pitchFamily="34" charset="0"/>
                <a:ea typeface="Cambria" pitchFamily="34" charset="-122"/>
                <a:cs typeface="Cambria" pitchFamily="34" charset="-120"/>
              </a:rPr>
              <a:t>Backup în timpul activității</a:t>
            </a:r>
            <a:endParaRPr lang="en-US" sz="3600" dirty="0"/>
          </a:p>
        </p:txBody>
      </p:sp>
      <p:sp>
        <p:nvSpPr>
          <p:cNvPr id="3" name="Faza"/>
          <p:cNvSpPr txBox="1"/>
          <p:nvPr/>
        </p:nvSpPr>
        <p:spPr>
          <a:xfrm>
            <a:off x="457200" y="1097280"/>
            <a:ext cx="11274552" cy="32004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F7 · Reziliență  ·  pasul 5 din 5</a:t>
            </a:r>
            <a:endParaRPr lang="en-US" sz="1400" dirty="0"/>
          </a:p>
        </p:txBody>
      </p:sp>
      <p:sp>
        <p:nvSpPr>
          <p:cNvPr id="4" name="Card A"/>
          <p:cNvSpPr/>
          <p:nvPr/>
        </p:nvSpPr>
        <p:spPr>
          <a:xfrm>
            <a:off x="457200"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5" name="A cerc"/>
          <p:cNvSpPr/>
          <p:nvPr/>
        </p:nvSpPr>
        <p:spPr>
          <a:xfrm>
            <a:off x="640080" y="1737360"/>
            <a:ext cx="548640" cy="548640"/>
          </a:xfrm>
          <a:prstGeom prst="ellipse">
            <a:avLst/>
          </a:prstGeom>
          <a:solidFill>
            <a:schemeClr val="accent1"/>
          </a:solidFill>
          <a:ln/>
        </p:spPr>
      </p:sp>
      <p:pic>
        <p:nvPicPr>
          <p:cNvPr id="6" name="A icon" descr="A">    </p:cNvPr>
          <p:cNvPicPr>
            <a:picLocks noChangeAspect="1"/>
          </p:cNvPicPr>
          <p:nvPr/>
        </p:nvPicPr>
        <p:blipFill>
          <a:blip r:embed="rId1"/>
          <a:stretch>
            <a:fillRect/>
          </a:stretch>
        </p:blipFill>
        <p:spPr>
          <a:xfrm>
            <a:off x="788213" y="1885493"/>
            <a:ext cx="252374" cy="252374"/>
          </a:xfrm>
          <a:prstGeom prst="rect">
            <a:avLst/>
          </a:prstGeom>
        </p:spPr>
      </p:pic>
      <p:sp>
        <p:nvSpPr>
          <p:cNvPr id="7" name="Antet A"/>
          <p:cNvSpPr txBox="1"/>
          <p:nvPr/>
        </p:nvSpPr>
        <p:spPr>
          <a:xfrm>
            <a:off x="1325880" y="1737360"/>
            <a:ext cx="2569464" cy="54864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Telefon A — ce faci</a:t>
            </a:r>
            <a:endParaRPr lang="en-US" sz="1600" dirty="0"/>
          </a:p>
        </p:txBody>
      </p:sp>
      <p:sp>
        <p:nvSpPr>
          <p:cNvPr id="8" name="Text A"/>
          <p:cNvSpPr txBox="1"/>
          <p:nvPr/>
        </p:nvSpPr>
        <p:spPr>
          <a:xfrm>
            <a:off x="640080"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Continuă să lucreze: modificări, fotografii.</a:t>
            </a:r>
            <a:endParaRPr lang="en-US" sz="1600" dirty="0"/>
          </a:p>
        </p:txBody>
      </p:sp>
      <p:sp>
        <p:nvSpPr>
          <p:cNvPr id="9" name="Eticheta rezultat A"/>
          <p:cNvSpPr txBox="1"/>
          <p:nvPr/>
        </p:nvSpPr>
        <p:spPr>
          <a:xfrm>
            <a:off x="640080"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0" name="Stare A"/>
          <p:cNvSpPr/>
          <p:nvPr/>
        </p:nvSpPr>
        <p:spPr>
          <a:xfrm>
            <a:off x="640080" y="4023360"/>
            <a:ext cx="3209544" cy="457200"/>
          </a:xfrm>
          <a:prstGeom prst="roundRect">
            <a:avLst>
              <a:gd name="adj" fmla="val 12000"/>
            </a:avLst>
          </a:prstGeom>
          <a:solidFill>
            <a:schemeClr val="accent4"/>
          </a:solidFill>
          <a:ln/>
        </p:spPr>
      </p:sp>
      <p:sp>
        <p:nvSpPr>
          <p:cNvPr id="11" name="Stare A text"/>
          <p:cNvSpPr txBox="1"/>
          <p:nvPr/>
        </p:nvSpPr>
        <p:spPr>
          <a:xfrm>
            <a:off x="640080"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12" name="Nota A"/>
          <p:cNvSpPr txBox="1"/>
          <p:nvPr/>
        </p:nvSpPr>
        <p:spPr>
          <a:xfrm>
            <a:off x="640080"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lucru normal</a:t>
            </a:r>
            <a:endParaRPr lang="en-US" sz="1400" dirty="0"/>
          </a:p>
        </p:txBody>
      </p:sp>
      <p:sp>
        <p:nvSpPr>
          <p:cNvPr id="13" name="Card B"/>
          <p:cNvSpPr/>
          <p:nvPr/>
        </p:nvSpPr>
        <p:spPr>
          <a:xfrm>
            <a:off x="4306824"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14" name="B cerc"/>
          <p:cNvSpPr/>
          <p:nvPr/>
        </p:nvSpPr>
        <p:spPr>
          <a:xfrm>
            <a:off x="4489704" y="1737360"/>
            <a:ext cx="548640" cy="548640"/>
          </a:xfrm>
          <a:prstGeom prst="ellipse">
            <a:avLst/>
          </a:prstGeom>
          <a:solidFill>
            <a:schemeClr val="accent2"/>
          </a:solidFill>
          <a:ln/>
        </p:spPr>
      </p:sp>
      <p:pic>
        <p:nvPicPr>
          <p:cNvPr id="15" name="B icon" descr="B">    </p:cNvPr>
          <p:cNvPicPr>
            <a:picLocks noChangeAspect="1"/>
          </p:cNvPicPr>
          <p:nvPr/>
        </p:nvPicPr>
        <p:blipFill>
          <a:blip r:embed="rId2"/>
          <a:stretch>
            <a:fillRect/>
          </a:stretch>
        </p:blipFill>
        <p:spPr>
          <a:xfrm>
            <a:off x="4637837" y="1885493"/>
            <a:ext cx="252374" cy="252374"/>
          </a:xfrm>
          <a:prstGeom prst="rect">
            <a:avLst/>
          </a:prstGeom>
        </p:spPr>
      </p:pic>
      <p:sp>
        <p:nvSpPr>
          <p:cNvPr id="16" name="Antet B"/>
          <p:cNvSpPr txBox="1"/>
          <p:nvPr/>
        </p:nvSpPr>
        <p:spPr>
          <a:xfrm>
            <a:off x="5175504" y="1737360"/>
            <a:ext cx="2569464" cy="54864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Telefon B — ce faci / ce trebuie să vezi</a:t>
            </a:r>
            <a:endParaRPr lang="en-US" sz="1600" dirty="0"/>
          </a:p>
        </p:txBody>
      </p:sp>
      <p:sp>
        <p:nvSpPr>
          <p:cNvPr id="17" name="Text B"/>
          <p:cNvSpPr txBox="1"/>
          <p:nvPr/>
        </p:nvSpPr>
        <p:spPr>
          <a:xfrm>
            <a:off x="4489704"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Continuă să lucreze: modificări, fotografii.</a:t>
            </a:r>
            <a:endParaRPr lang="en-US" sz="1600" dirty="0"/>
          </a:p>
        </p:txBody>
      </p:sp>
      <p:sp>
        <p:nvSpPr>
          <p:cNvPr id="18" name="Eticheta rezultat B"/>
          <p:cNvSpPr txBox="1"/>
          <p:nvPr/>
        </p:nvSpPr>
        <p:spPr>
          <a:xfrm>
            <a:off x="4489704"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19" name="Stare B"/>
          <p:cNvSpPr/>
          <p:nvPr/>
        </p:nvSpPr>
        <p:spPr>
          <a:xfrm>
            <a:off x="4489704" y="4023360"/>
            <a:ext cx="3209544" cy="457200"/>
          </a:xfrm>
          <a:prstGeom prst="roundRect">
            <a:avLst>
              <a:gd name="adj" fmla="val 12000"/>
            </a:avLst>
          </a:prstGeom>
          <a:solidFill>
            <a:schemeClr val="accent4"/>
          </a:solidFill>
          <a:ln/>
        </p:spPr>
      </p:sp>
      <p:sp>
        <p:nvSpPr>
          <p:cNvPr id="20" name="Stare B text"/>
          <p:cNvSpPr txBox="1"/>
          <p:nvPr/>
        </p:nvSpPr>
        <p:spPr>
          <a:xfrm>
            <a:off x="4489704"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21" name="Nota B"/>
          <p:cNvSpPr txBox="1"/>
          <p:nvPr/>
        </p:nvSpPr>
        <p:spPr>
          <a:xfrm>
            <a:off x="4489704"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lucru normal</a:t>
            </a:r>
            <a:endParaRPr lang="en-US" sz="1400" dirty="0"/>
          </a:p>
        </p:txBody>
      </p:sp>
      <p:sp>
        <p:nvSpPr>
          <p:cNvPr id="22" name="Card Server"/>
          <p:cNvSpPr/>
          <p:nvPr/>
        </p:nvSpPr>
        <p:spPr>
          <a:xfrm>
            <a:off x="8156448" y="1554480"/>
            <a:ext cx="3575304" cy="3291840"/>
          </a:xfrm>
          <a:prstGeom prst="roundRect">
            <a:avLst>
              <a:gd name="adj" fmla="val 2222"/>
            </a:avLst>
          </a:prstGeom>
          <a:solidFill>
            <a:schemeClr val="bg2"/>
          </a:solidFill>
          <a:ln/>
          <a:effectLst>
            <a:outerShdw sx="100000" sy="100000" kx="0" ky="0" algn="bl" rotWithShape="0" blurRad="76200" dist="25400" dir="5400000">
              <a:srgbClr val="17323F">
                <a:alpha val="14000"/>
              </a:srgbClr>
            </a:outerShdw>
          </a:effectLst>
        </p:spPr>
      </p:sp>
      <p:sp>
        <p:nvSpPr>
          <p:cNvPr id="23" name="Server cerc"/>
          <p:cNvSpPr/>
          <p:nvPr/>
        </p:nvSpPr>
        <p:spPr>
          <a:xfrm>
            <a:off x="8339328" y="1737360"/>
            <a:ext cx="548640" cy="548640"/>
          </a:xfrm>
          <a:prstGeom prst="ellipse">
            <a:avLst/>
          </a:prstGeom>
          <a:solidFill>
            <a:schemeClr val="accent3"/>
          </a:solidFill>
          <a:ln/>
        </p:spPr>
      </p:sp>
      <p:pic>
        <p:nvPicPr>
          <p:cNvPr id="24" name="Server icon" descr="Server">    </p:cNvPr>
          <p:cNvPicPr>
            <a:picLocks noChangeAspect="1"/>
          </p:cNvPicPr>
          <p:nvPr/>
        </p:nvPicPr>
        <p:blipFill>
          <a:blip r:embed="rId3"/>
          <a:stretch>
            <a:fillRect/>
          </a:stretch>
        </p:blipFill>
        <p:spPr>
          <a:xfrm>
            <a:off x="8487461" y="1885493"/>
            <a:ext cx="252374" cy="252374"/>
          </a:xfrm>
          <a:prstGeom prst="rect">
            <a:avLst/>
          </a:prstGeom>
        </p:spPr>
      </p:pic>
      <p:sp>
        <p:nvSpPr>
          <p:cNvPr id="25" name="Antet Server"/>
          <p:cNvSpPr txBox="1"/>
          <p:nvPr/>
        </p:nvSpPr>
        <p:spPr>
          <a:xfrm>
            <a:off x="9025128" y="1737360"/>
            <a:ext cx="2569464"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Server — ce verificăm</a:t>
            </a:r>
            <a:endParaRPr lang="en-US" sz="1600" dirty="0"/>
          </a:p>
        </p:txBody>
      </p:sp>
      <p:sp>
        <p:nvSpPr>
          <p:cNvPr id="26" name="Text Server"/>
          <p:cNvSpPr txBox="1"/>
          <p:nvPr/>
        </p:nvSpPr>
        <p:spPr>
          <a:xfrm>
            <a:off x="8339328" y="2423160"/>
            <a:ext cx="3209544" cy="132588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În /admin/: Salvare acum. Backupul e complet, cu sha256, și se poate descărca.</a:t>
            </a:r>
            <a:endParaRPr lang="en-US" sz="1600" dirty="0"/>
          </a:p>
        </p:txBody>
      </p:sp>
      <p:sp>
        <p:nvSpPr>
          <p:cNvPr id="27" name="Eticheta rezultat Server"/>
          <p:cNvSpPr txBox="1"/>
          <p:nvPr/>
        </p:nvSpPr>
        <p:spPr>
          <a:xfrm>
            <a:off x="8339328" y="3767328"/>
            <a:ext cx="3209544" cy="228600"/>
          </a:xfrm>
          <a:prstGeom prst="rect">
            <a:avLst/>
          </a:prstGeom>
          <a:noFill/>
          <a:ln/>
        </p:spPr>
        <p:txBody>
          <a:bodyPr wrap="square" lIns="0" tIns="0" rIns="0" bIns="0" rtlCol="0" anchor="t"/>
          <a:lstStyle/>
          <a:p>
            <a:pPr indent="0" marL="0">
              <a:buNone/>
            </a:pPr>
            <a:r>
              <a:rPr lang="en-US" sz="1200" b="1" dirty="0">
                <a:solidFill>
                  <a:schemeClr val="tx2"/>
                </a:solidFill>
                <a:latin typeface="Calibri" pitchFamily="34" charset="0"/>
                <a:ea typeface="Calibri" pitchFamily="34" charset="-122"/>
                <a:cs typeface="Calibri" pitchFamily="34" charset="-120"/>
              </a:rPr>
              <a:t>Rezultat așteptat</a:t>
            </a:r>
            <a:endParaRPr lang="en-US" sz="1200" dirty="0"/>
          </a:p>
        </p:txBody>
      </p:sp>
      <p:sp>
        <p:nvSpPr>
          <p:cNvPr id="28" name="Stare Server"/>
          <p:cNvSpPr/>
          <p:nvPr/>
        </p:nvSpPr>
        <p:spPr>
          <a:xfrm>
            <a:off x="8339328" y="4023360"/>
            <a:ext cx="3209544" cy="457200"/>
          </a:xfrm>
          <a:prstGeom prst="roundRect">
            <a:avLst>
              <a:gd name="adj" fmla="val 12000"/>
            </a:avLst>
          </a:prstGeom>
          <a:solidFill>
            <a:schemeClr val="accent4"/>
          </a:solidFill>
          <a:ln/>
        </p:spPr>
      </p:sp>
      <p:sp>
        <p:nvSpPr>
          <p:cNvPr id="29" name="Stare Server text"/>
          <p:cNvSpPr txBox="1"/>
          <p:nvPr/>
        </p:nvSpPr>
        <p:spPr>
          <a:xfrm>
            <a:off x="8339328" y="4023360"/>
            <a:ext cx="3209544" cy="457200"/>
          </a:xfrm>
          <a:prstGeom prst="rect">
            <a:avLst/>
          </a:prstGeom>
          <a:noFill/>
          <a:ln/>
        </p:spPr>
        <p:txBody>
          <a:bodyPr wrap="square" lIns="0" tIns="0" rIns="0" bIns="0" rtlCol="0" anchor="ctr"/>
          <a:lstStyle/>
          <a:p>
            <a:pPr algn="ctr" indent="0" marL="0">
              <a:buNone/>
            </a:pPr>
            <a:r>
              <a:rPr lang="en-US" sz="1800" b="1" dirty="0">
                <a:solidFill>
                  <a:schemeClr val="bg1"/>
                </a:solidFill>
                <a:latin typeface="Calibri" pitchFamily="34" charset="0"/>
                <a:ea typeface="Calibri" pitchFamily="34" charset="-122"/>
                <a:cs typeface="Calibri" pitchFamily="34" charset="-120"/>
              </a:rPr>
              <a:t>✓ PREZENT</a:t>
            </a:r>
            <a:endParaRPr lang="en-US" sz="1800" dirty="0"/>
          </a:p>
        </p:txBody>
      </p:sp>
      <p:sp>
        <p:nvSpPr>
          <p:cNvPr id="30" name="Nota Server"/>
          <p:cNvSpPr txBox="1"/>
          <p:nvPr/>
        </p:nvSpPr>
        <p:spPr>
          <a:xfrm>
            <a:off x="8339328" y="4498848"/>
            <a:ext cx="3209544" cy="2743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backup cu sha256</a:t>
            </a:r>
            <a:endParaRPr lang="en-US" sz="1400" dirty="0"/>
          </a:p>
        </p:txBody>
      </p:sp>
      <p:sp>
        <p:nvSpPr>
          <p:cNvPr id="31" name="Dovada"/>
          <p:cNvSpPr/>
          <p:nvPr/>
        </p:nvSpPr>
        <p:spPr>
          <a:xfrm>
            <a:off x="457200" y="5029200"/>
            <a:ext cx="5486400" cy="1143000"/>
          </a:xfrm>
          <a:prstGeom prst="roundRect">
            <a:avLst>
              <a:gd name="adj" fmla="val 6400"/>
            </a:avLst>
          </a:prstGeom>
          <a:solidFill>
            <a:schemeClr val="bg2"/>
          </a:solidFill>
          <a:ln/>
          <a:effectLst>
            <a:outerShdw sx="100000" sy="100000" kx="0" ky="0" algn="bl" rotWithShape="0" blurRad="76200" dist="25400" dir="5400000">
              <a:srgbClr val="17323F">
                <a:alpha val="14000"/>
              </a:srgbClr>
            </a:outerShdw>
          </a:effectLst>
        </p:spPr>
      </p:sp>
      <p:sp>
        <p:nvSpPr>
          <p:cNvPr id="32" name="Dovada cerc"/>
          <p:cNvSpPr/>
          <p:nvPr/>
        </p:nvSpPr>
        <p:spPr>
          <a:xfrm>
            <a:off x="640080" y="5138928"/>
            <a:ext cx="411480" cy="411480"/>
          </a:xfrm>
          <a:prstGeom prst="ellipse">
            <a:avLst/>
          </a:prstGeom>
          <a:solidFill>
            <a:schemeClr val="tx2"/>
          </a:solidFill>
          <a:ln/>
        </p:spPr>
      </p:sp>
      <p:pic>
        <p:nvPicPr>
          <p:cNvPr id="33" name="Dovada icon" descr="Dovada">    </p:cNvPr>
          <p:cNvPicPr>
            <a:picLocks noChangeAspect="1"/>
          </p:cNvPicPr>
          <p:nvPr/>
        </p:nvPicPr>
        <p:blipFill>
          <a:blip r:embed="rId4"/>
          <a:stretch>
            <a:fillRect/>
          </a:stretch>
        </p:blipFill>
        <p:spPr>
          <a:xfrm>
            <a:off x="751180" y="5250028"/>
            <a:ext cx="189281" cy="189281"/>
          </a:xfrm>
          <a:prstGeom prst="rect">
            <a:avLst/>
          </a:prstGeom>
        </p:spPr>
      </p:pic>
      <p:sp>
        <p:nvSpPr>
          <p:cNvPr id="34" name="Dovada eticheta"/>
          <p:cNvSpPr txBox="1"/>
          <p:nvPr/>
        </p:nvSpPr>
        <p:spPr>
          <a:xfrm>
            <a:off x="1188720" y="5138928"/>
            <a:ext cx="4480560" cy="41148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Dovada cerută</a:t>
            </a:r>
            <a:endParaRPr lang="en-US" sz="1600" dirty="0"/>
          </a:p>
        </p:txBody>
      </p:sp>
      <p:sp>
        <p:nvSpPr>
          <p:cNvPr id="35" name="Dovada text"/>
          <p:cNvSpPr txBox="1"/>
          <p:nvPr/>
        </p:nvSpPr>
        <p:spPr>
          <a:xfrm>
            <a:off x="640080" y="5596128"/>
            <a:ext cx="5120640" cy="530352"/>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Numele backupului, sha256 și descărcarea reușită.</a:t>
            </a:r>
            <a:endParaRPr lang="en-US" sz="1600" dirty="0"/>
          </a:p>
        </p:txBody>
      </p:sp>
      <p:sp>
        <p:nvSpPr>
          <p:cNvPr id="36" name="Zona bifat"/>
          <p:cNvSpPr/>
          <p:nvPr/>
        </p:nvSpPr>
        <p:spPr>
          <a:xfrm>
            <a:off x="6217920" y="5029200"/>
            <a:ext cx="5513832" cy="1143000"/>
          </a:xfrm>
          <a:prstGeom prst="roundRect">
            <a:avLst>
              <a:gd name="adj" fmla="val 6400"/>
            </a:avLst>
          </a:prstGeom>
          <a:solidFill>
            <a:schemeClr val="bg1"/>
          </a:solidFill>
          <a:ln w="15875">
            <a:solidFill>
              <a:schemeClr val="tx2"/>
            </a:solidFill>
            <a:prstDash val="dash"/>
          </a:ln>
        </p:spPr>
      </p:sp>
      <p:sp>
        <p:nvSpPr>
          <p:cNvPr id="37" name="Bifa PASS"/>
          <p:cNvSpPr/>
          <p:nvPr/>
        </p:nvSpPr>
        <p:spPr>
          <a:xfrm>
            <a:off x="6446520" y="5212080"/>
            <a:ext cx="347472" cy="347472"/>
          </a:xfrm>
          <a:prstGeom prst="rect">
            <a:avLst/>
          </a:prstGeom>
          <a:solidFill>
            <a:schemeClr val="bg1"/>
          </a:solidFill>
          <a:ln w="22225">
            <a:solidFill>
              <a:schemeClr val="accent4"/>
            </a:solidFill>
            <a:prstDash val="solid"/>
          </a:ln>
        </p:spPr>
      </p:sp>
      <p:sp>
        <p:nvSpPr>
          <p:cNvPr id="38" name="Eticheta PASS"/>
          <p:cNvSpPr txBox="1"/>
          <p:nvPr/>
        </p:nvSpPr>
        <p:spPr>
          <a:xfrm>
            <a:off x="6903720" y="5166360"/>
            <a:ext cx="777240" cy="438912"/>
          </a:xfrm>
          <a:prstGeom prst="rect">
            <a:avLst/>
          </a:prstGeom>
          <a:noFill/>
          <a:ln/>
        </p:spPr>
        <p:txBody>
          <a:bodyPr wrap="square" lIns="0" tIns="0" rIns="0" bIns="0" rtlCol="0" anchor="ctr"/>
          <a:lstStyle/>
          <a:p>
            <a:pPr indent="0" marL="0">
              <a:buNone/>
            </a:pPr>
            <a:r>
              <a:rPr lang="en-US" sz="1800" b="1" dirty="0">
                <a:solidFill>
                  <a:schemeClr val="accent4"/>
                </a:solidFill>
                <a:latin typeface="Calibri" pitchFamily="34" charset="0"/>
                <a:ea typeface="Calibri" pitchFamily="34" charset="-122"/>
                <a:cs typeface="Calibri" pitchFamily="34" charset="-120"/>
              </a:rPr>
              <a:t>PASS</a:t>
            </a:r>
            <a:endParaRPr lang="en-US" sz="1800" dirty="0"/>
          </a:p>
        </p:txBody>
      </p:sp>
      <p:sp>
        <p:nvSpPr>
          <p:cNvPr id="39" name="Bifa FAIL"/>
          <p:cNvSpPr/>
          <p:nvPr/>
        </p:nvSpPr>
        <p:spPr>
          <a:xfrm>
            <a:off x="7909560" y="5212080"/>
            <a:ext cx="347472" cy="347472"/>
          </a:xfrm>
          <a:prstGeom prst="rect">
            <a:avLst/>
          </a:prstGeom>
          <a:solidFill>
            <a:schemeClr val="bg1"/>
          </a:solidFill>
          <a:ln w="22225">
            <a:solidFill>
              <a:schemeClr val="accent5"/>
            </a:solidFill>
            <a:prstDash val="solid"/>
          </a:ln>
        </p:spPr>
      </p:sp>
      <p:sp>
        <p:nvSpPr>
          <p:cNvPr id="40" name="Eticheta FAIL"/>
          <p:cNvSpPr txBox="1"/>
          <p:nvPr/>
        </p:nvSpPr>
        <p:spPr>
          <a:xfrm>
            <a:off x="8366760" y="5166360"/>
            <a:ext cx="777240" cy="438912"/>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FAIL</a:t>
            </a:r>
            <a:endParaRPr lang="en-US" sz="1800" dirty="0"/>
          </a:p>
        </p:txBody>
      </p:sp>
      <p:sp>
        <p:nvSpPr>
          <p:cNvPr id="41" name="Bifa NOT RUN"/>
          <p:cNvSpPr/>
          <p:nvPr/>
        </p:nvSpPr>
        <p:spPr>
          <a:xfrm>
            <a:off x="9372600" y="5212080"/>
            <a:ext cx="347472" cy="347472"/>
          </a:xfrm>
          <a:prstGeom prst="rect">
            <a:avLst/>
          </a:prstGeom>
          <a:solidFill>
            <a:schemeClr val="bg1"/>
          </a:solidFill>
          <a:ln w="22225">
            <a:solidFill>
              <a:schemeClr val="tx2"/>
            </a:solidFill>
            <a:prstDash val="solid"/>
          </a:ln>
        </p:spPr>
      </p:sp>
      <p:sp>
        <p:nvSpPr>
          <p:cNvPr id="42" name="Eticheta NOT RUN"/>
          <p:cNvSpPr txBox="1"/>
          <p:nvPr/>
        </p:nvSpPr>
        <p:spPr>
          <a:xfrm>
            <a:off x="9829800" y="5166360"/>
            <a:ext cx="1280160" cy="438912"/>
          </a:xfrm>
          <a:prstGeom prst="rect">
            <a:avLst/>
          </a:prstGeom>
          <a:noFill/>
          <a:ln/>
        </p:spPr>
        <p:txBody>
          <a:bodyPr wrap="square" lIns="0" tIns="0" rIns="0" bIns="0" rtlCol="0" anchor="ctr"/>
          <a:lstStyle/>
          <a:p>
            <a:pPr indent="0" marL="0">
              <a:buNone/>
            </a:pPr>
            <a:r>
              <a:rPr lang="en-US" sz="1800" b="1" dirty="0">
                <a:solidFill>
                  <a:schemeClr val="tx2"/>
                </a:solidFill>
                <a:latin typeface="Calibri" pitchFamily="34" charset="0"/>
                <a:ea typeface="Calibri" pitchFamily="34" charset="-122"/>
                <a:cs typeface="Calibri" pitchFamily="34" charset="-120"/>
              </a:rPr>
              <a:t>NOT RUN</a:t>
            </a:r>
            <a:endParaRPr lang="en-US" sz="1800" dirty="0"/>
          </a:p>
        </p:txBody>
      </p:sp>
      <p:sp>
        <p:nvSpPr>
          <p:cNvPr id="43" name="Ora si observatii"/>
          <p:cNvSpPr txBox="1"/>
          <p:nvPr/>
        </p:nvSpPr>
        <p:spPr>
          <a:xfrm>
            <a:off x="6446520" y="5715000"/>
            <a:ext cx="5056632" cy="34747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Ora: ________     Observații: ______________________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Cum se citește panoul /admin/test</a:t>
            </a:r>
            <a:endParaRPr lang="en-US" sz="3600" dirty="0"/>
          </a:p>
        </p:txBody>
      </p:sp>
      <p:sp>
        <p:nvSpPr>
          <p:cNvPr id="3" name="Macheta panou"/>
          <p:cNvSpPr/>
          <p:nvPr/>
        </p:nvSpPr>
        <p:spPr>
          <a:xfrm>
            <a:off x="457200" y="1325880"/>
            <a:ext cx="7498080" cy="4800600"/>
          </a:xfrm>
          <a:prstGeom prst="roundRect">
            <a:avLst>
              <a:gd name="adj" fmla="val 1524"/>
            </a:avLst>
          </a:prstGeom>
          <a:solidFill>
            <a:schemeClr val="bg2"/>
          </a:solidFill>
          <a:ln/>
          <a:effectLst>
            <a:outerShdw sx="100000" sy="100000" kx="0" ky="0" algn="bl" rotWithShape="0" blurRad="76200" dist="25400" dir="5400000">
              <a:srgbClr val="17323F">
                <a:alpha val="14000"/>
              </a:srgbClr>
            </a:outerShdw>
          </a:effectLst>
        </p:spPr>
      </p:sp>
      <p:sp>
        <p:nvSpPr>
          <p:cNvPr id="4" name="Macheta pas curent"/>
          <p:cNvSpPr txBox="1"/>
          <p:nvPr/>
        </p:nvSpPr>
        <p:spPr>
          <a:xfrm>
            <a:off x="685800" y="1463040"/>
            <a:ext cx="3931920" cy="41148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Pas curent: </a:t>
            </a:r>
            <a:pPr indent="0" marL="0">
              <a:buNone/>
            </a:pPr>
            <a:r>
              <a:rPr lang="en-US" sz="1400" dirty="0">
                <a:solidFill>
                  <a:schemeClr val="tx1"/>
                </a:solidFill>
                <a:latin typeface="Calibri" pitchFamily="34" charset="0"/>
                <a:ea typeface="Calibri" pitchFamily="34" charset="-122"/>
                <a:cs typeface="Calibri" pitchFamily="34" charset="-120"/>
              </a:rPr>
              <a:t>T-L06  A șterge un obiect</a:t>
            </a:r>
            <a:endParaRPr lang="en-US" sz="1400" dirty="0"/>
          </a:p>
        </p:txBody>
      </p:sp>
      <p:sp>
        <p:nvSpPr>
          <p:cNvPr id="5" name="Macheta buton PASS"/>
          <p:cNvSpPr/>
          <p:nvPr/>
        </p:nvSpPr>
        <p:spPr>
          <a:xfrm>
            <a:off x="4709160" y="1490472"/>
            <a:ext cx="932688" cy="365760"/>
          </a:xfrm>
          <a:prstGeom prst="roundRect">
            <a:avLst>
              <a:gd name="adj" fmla="val 12500"/>
            </a:avLst>
          </a:prstGeom>
          <a:solidFill>
            <a:schemeClr val="accent4"/>
          </a:solidFill>
          <a:ln/>
        </p:spPr>
      </p:sp>
      <p:sp>
        <p:nvSpPr>
          <p:cNvPr id="6" name="Macheta buton text PASS"/>
          <p:cNvSpPr txBox="1"/>
          <p:nvPr/>
        </p:nvSpPr>
        <p:spPr>
          <a:xfrm>
            <a:off x="4709160" y="1490472"/>
            <a:ext cx="932688"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PASS</a:t>
            </a:r>
            <a:endParaRPr lang="en-US" sz="1200" dirty="0"/>
          </a:p>
        </p:txBody>
      </p:sp>
      <p:sp>
        <p:nvSpPr>
          <p:cNvPr id="7" name="Macheta buton FAIL"/>
          <p:cNvSpPr/>
          <p:nvPr/>
        </p:nvSpPr>
        <p:spPr>
          <a:xfrm>
            <a:off x="5733288" y="1490472"/>
            <a:ext cx="932688" cy="365760"/>
          </a:xfrm>
          <a:prstGeom prst="roundRect">
            <a:avLst>
              <a:gd name="adj" fmla="val 12500"/>
            </a:avLst>
          </a:prstGeom>
          <a:solidFill>
            <a:schemeClr val="accent5"/>
          </a:solidFill>
          <a:ln/>
        </p:spPr>
      </p:sp>
      <p:sp>
        <p:nvSpPr>
          <p:cNvPr id="8" name="Macheta buton text FAIL"/>
          <p:cNvSpPr txBox="1"/>
          <p:nvPr/>
        </p:nvSpPr>
        <p:spPr>
          <a:xfrm>
            <a:off x="5733288" y="1490472"/>
            <a:ext cx="932688"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FAIL</a:t>
            </a:r>
            <a:endParaRPr lang="en-US" sz="1200" dirty="0"/>
          </a:p>
        </p:txBody>
      </p:sp>
      <p:sp>
        <p:nvSpPr>
          <p:cNvPr id="9" name="Macheta buton NOT RUN"/>
          <p:cNvSpPr/>
          <p:nvPr/>
        </p:nvSpPr>
        <p:spPr>
          <a:xfrm>
            <a:off x="6757416" y="1490472"/>
            <a:ext cx="932688" cy="365760"/>
          </a:xfrm>
          <a:prstGeom prst="roundRect">
            <a:avLst>
              <a:gd name="adj" fmla="val 12500"/>
            </a:avLst>
          </a:prstGeom>
          <a:solidFill>
            <a:schemeClr val="tx2"/>
          </a:solidFill>
          <a:ln/>
        </p:spPr>
      </p:sp>
      <p:sp>
        <p:nvSpPr>
          <p:cNvPr id="10" name="Macheta buton text NOT RUN"/>
          <p:cNvSpPr txBox="1"/>
          <p:nvPr/>
        </p:nvSpPr>
        <p:spPr>
          <a:xfrm>
            <a:off x="6757416" y="1490472"/>
            <a:ext cx="932688" cy="36576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NOT RUN</a:t>
            </a:r>
            <a:endParaRPr lang="en-US" sz="1200" dirty="0"/>
          </a:p>
        </p:txBody>
      </p:sp>
      <p:sp>
        <p:nvSpPr>
          <p:cNvPr id="11" name="Macheta antet Entitate"/>
          <p:cNvSpPr/>
          <p:nvPr/>
        </p:nvSpPr>
        <p:spPr>
          <a:xfrm>
            <a:off x="685800" y="2057400"/>
            <a:ext cx="2377440" cy="685800"/>
          </a:xfrm>
          <a:prstGeom prst="rect">
            <a:avLst/>
          </a:prstGeom>
          <a:solidFill>
            <a:schemeClr val="bg1"/>
          </a:solidFill>
          <a:ln w="12700">
            <a:solidFill>
              <a:schemeClr val="bg2"/>
            </a:solidFill>
            <a:prstDash val="solid"/>
          </a:ln>
        </p:spPr>
      </p:sp>
      <p:sp>
        <p:nvSpPr>
          <p:cNvPr id="12" name="Macheta antet text Entitate"/>
          <p:cNvSpPr txBox="1"/>
          <p:nvPr/>
        </p:nvSpPr>
        <p:spPr>
          <a:xfrm>
            <a:off x="777240" y="2057400"/>
            <a:ext cx="219456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Entitate</a:t>
            </a:r>
            <a:endParaRPr lang="en-US" sz="1400" dirty="0"/>
          </a:p>
          <a:p>
            <a:pPr indent="0" marL="0">
              <a:buNone/>
            </a:pPr>
            <a:endParaRPr lang="en-US" sz="1400" dirty="0"/>
          </a:p>
        </p:txBody>
      </p:sp>
      <p:sp>
        <p:nvSpPr>
          <p:cNvPr id="13" name="Macheta antet A"/>
          <p:cNvSpPr/>
          <p:nvPr/>
        </p:nvSpPr>
        <p:spPr>
          <a:xfrm>
            <a:off x="3063240" y="2057400"/>
            <a:ext cx="1554480" cy="685800"/>
          </a:xfrm>
          <a:prstGeom prst="rect">
            <a:avLst/>
          </a:prstGeom>
          <a:solidFill>
            <a:schemeClr val="accent1"/>
          </a:solidFill>
          <a:ln w="12700">
            <a:solidFill>
              <a:schemeClr val="bg2"/>
            </a:solidFill>
            <a:prstDash val="solid"/>
          </a:ln>
        </p:spPr>
      </p:sp>
      <p:sp>
        <p:nvSpPr>
          <p:cNvPr id="14" name="Macheta antet text A"/>
          <p:cNvSpPr txBox="1"/>
          <p:nvPr/>
        </p:nvSpPr>
        <p:spPr>
          <a:xfrm>
            <a:off x="3154680" y="2057400"/>
            <a:ext cx="1371600" cy="68580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A</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U1 · LAN</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seq 41 · 38 ms</a:t>
            </a:r>
            <a:endParaRPr lang="en-US" sz="1400" dirty="0"/>
          </a:p>
        </p:txBody>
      </p:sp>
      <p:sp>
        <p:nvSpPr>
          <p:cNvPr id="15" name="Macheta antet B"/>
          <p:cNvSpPr/>
          <p:nvPr/>
        </p:nvSpPr>
        <p:spPr>
          <a:xfrm>
            <a:off x="4617720" y="2057400"/>
            <a:ext cx="1554480" cy="685800"/>
          </a:xfrm>
          <a:prstGeom prst="rect">
            <a:avLst/>
          </a:prstGeom>
          <a:solidFill>
            <a:schemeClr val="accent2"/>
          </a:solidFill>
          <a:ln w="12700">
            <a:solidFill>
              <a:schemeClr val="bg2"/>
            </a:solidFill>
            <a:prstDash val="solid"/>
          </a:ln>
        </p:spPr>
      </p:sp>
      <p:sp>
        <p:nvSpPr>
          <p:cNvPr id="16" name="Macheta antet text B"/>
          <p:cNvSpPr txBox="1"/>
          <p:nvPr/>
        </p:nvSpPr>
        <p:spPr>
          <a:xfrm>
            <a:off x="4709160" y="2057400"/>
            <a:ext cx="1371600" cy="68580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B</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U1 · LAN</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seq 41 · 42 ms</a:t>
            </a:r>
            <a:endParaRPr lang="en-US" sz="1400" dirty="0"/>
          </a:p>
        </p:txBody>
      </p:sp>
      <p:sp>
        <p:nvSpPr>
          <p:cNvPr id="17" name="Macheta antet Server"/>
          <p:cNvSpPr/>
          <p:nvPr/>
        </p:nvSpPr>
        <p:spPr>
          <a:xfrm>
            <a:off x="6172200" y="2057400"/>
            <a:ext cx="1554480" cy="685800"/>
          </a:xfrm>
          <a:prstGeom prst="rect">
            <a:avLst/>
          </a:prstGeom>
          <a:solidFill>
            <a:schemeClr val="accent3"/>
          </a:solidFill>
          <a:ln w="12700">
            <a:solidFill>
              <a:schemeClr val="bg2"/>
            </a:solidFill>
            <a:prstDash val="solid"/>
          </a:ln>
        </p:spPr>
      </p:sp>
      <p:sp>
        <p:nvSpPr>
          <p:cNvPr id="18" name="Macheta antet text Server"/>
          <p:cNvSpPr txBox="1"/>
          <p:nvPr/>
        </p:nvSpPr>
        <p:spPr>
          <a:xfrm>
            <a:off x="6263640" y="2057400"/>
            <a:ext cx="1371600" cy="68580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Server</a:t>
            </a:r>
            <a:endParaRPr lang="en-US" sz="1400" dirty="0"/>
          </a:p>
          <a:p>
            <a:pPr indent="0" marL="0">
              <a:buNone/>
            </a:pPr>
            <a:r>
              <a:rPr lang="en-US" sz="1200" dirty="0">
                <a:solidFill>
                  <a:schemeClr val="bg1"/>
                </a:solidFill>
                <a:latin typeface="Calibri" pitchFamily="34" charset="0"/>
                <a:ea typeface="Calibri" pitchFamily="34" charset="-122"/>
                <a:cs typeface="Calibri" pitchFamily="34" charset="-120"/>
              </a:rPr>
              <a:t>seq 41</a:t>
            </a:r>
            <a:endParaRPr lang="en-US" sz="1400" dirty="0"/>
          </a:p>
        </p:txBody>
      </p:sp>
      <p:sp>
        <p:nvSpPr>
          <p:cNvPr id="19" name="Macheta rand Cameră „Birou”"/>
          <p:cNvSpPr/>
          <p:nvPr/>
        </p:nvSpPr>
        <p:spPr>
          <a:xfrm>
            <a:off x="685800" y="2743200"/>
            <a:ext cx="2377440" cy="512064"/>
          </a:xfrm>
          <a:prstGeom prst="rect">
            <a:avLst/>
          </a:prstGeom>
          <a:solidFill>
            <a:schemeClr val="bg1"/>
          </a:solidFill>
          <a:ln w="12700">
            <a:solidFill>
              <a:schemeClr val="bg2"/>
            </a:solidFill>
            <a:prstDash val="solid"/>
          </a:ln>
        </p:spPr>
      </p:sp>
      <p:sp>
        <p:nvSpPr>
          <p:cNvPr id="20" name="Macheta entitate Cameră „Birou”"/>
          <p:cNvSpPr txBox="1"/>
          <p:nvPr/>
        </p:nvSpPr>
        <p:spPr>
          <a:xfrm>
            <a:off x="777240" y="2743200"/>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Cameră „Birou”</a:t>
            </a:r>
            <a:endParaRPr lang="en-US" sz="1400" dirty="0"/>
          </a:p>
        </p:txBody>
      </p:sp>
      <p:sp>
        <p:nvSpPr>
          <p:cNvPr id="21" name="Macheta celula Cameră „Birou” 0"/>
          <p:cNvSpPr/>
          <p:nvPr/>
        </p:nvSpPr>
        <p:spPr>
          <a:xfrm>
            <a:off x="3063240" y="2743200"/>
            <a:ext cx="1554480" cy="512064"/>
          </a:xfrm>
          <a:prstGeom prst="rect">
            <a:avLst/>
          </a:prstGeom>
          <a:solidFill>
            <a:schemeClr val="bg1"/>
          </a:solidFill>
          <a:ln w="12700">
            <a:solidFill>
              <a:schemeClr val="bg2"/>
            </a:solidFill>
            <a:prstDash val="solid"/>
          </a:ln>
        </p:spPr>
      </p:sp>
      <p:sp>
        <p:nvSpPr>
          <p:cNvPr id="22" name="Macheta stare Cameră „Birou” 0"/>
          <p:cNvSpPr txBox="1"/>
          <p:nvPr/>
        </p:nvSpPr>
        <p:spPr>
          <a:xfrm>
            <a:off x="3063240" y="2743200"/>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23" name="Macheta celula Cameră „Birou” 1"/>
          <p:cNvSpPr/>
          <p:nvPr/>
        </p:nvSpPr>
        <p:spPr>
          <a:xfrm>
            <a:off x="4617720" y="2743200"/>
            <a:ext cx="1554480" cy="512064"/>
          </a:xfrm>
          <a:prstGeom prst="rect">
            <a:avLst/>
          </a:prstGeom>
          <a:solidFill>
            <a:schemeClr val="bg1"/>
          </a:solidFill>
          <a:ln w="12700">
            <a:solidFill>
              <a:schemeClr val="bg2"/>
            </a:solidFill>
            <a:prstDash val="solid"/>
          </a:ln>
        </p:spPr>
      </p:sp>
      <p:sp>
        <p:nvSpPr>
          <p:cNvPr id="24" name="Macheta stare Cameră „Birou” 1"/>
          <p:cNvSpPr txBox="1"/>
          <p:nvPr/>
        </p:nvSpPr>
        <p:spPr>
          <a:xfrm>
            <a:off x="4617720" y="2743200"/>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25" name="Macheta celula Cameră „Birou” 2"/>
          <p:cNvSpPr/>
          <p:nvPr/>
        </p:nvSpPr>
        <p:spPr>
          <a:xfrm>
            <a:off x="6172200" y="2743200"/>
            <a:ext cx="1554480" cy="512064"/>
          </a:xfrm>
          <a:prstGeom prst="rect">
            <a:avLst/>
          </a:prstGeom>
          <a:solidFill>
            <a:schemeClr val="bg1"/>
          </a:solidFill>
          <a:ln w="12700">
            <a:solidFill>
              <a:schemeClr val="bg2"/>
            </a:solidFill>
            <a:prstDash val="solid"/>
          </a:ln>
        </p:spPr>
      </p:sp>
      <p:sp>
        <p:nvSpPr>
          <p:cNvPr id="26" name="Macheta stare Cameră „Birou” 2"/>
          <p:cNvSpPr txBox="1"/>
          <p:nvPr/>
        </p:nvSpPr>
        <p:spPr>
          <a:xfrm>
            <a:off x="6172200" y="2743200"/>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27" name="Macheta rand Obiect „cană”"/>
          <p:cNvSpPr/>
          <p:nvPr/>
        </p:nvSpPr>
        <p:spPr>
          <a:xfrm>
            <a:off x="685800" y="3255264"/>
            <a:ext cx="2377440" cy="512064"/>
          </a:xfrm>
          <a:prstGeom prst="rect">
            <a:avLst/>
          </a:prstGeom>
          <a:solidFill>
            <a:schemeClr val="bg1"/>
          </a:solidFill>
          <a:ln w="12700">
            <a:solidFill>
              <a:schemeClr val="bg2"/>
            </a:solidFill>
            <a:prstDash val="solid"/>
          </a:ln>
        </p:spPr>
      </p:sp>
      <p:sp>
        <p:nvSpPr>
          <p:cNvPr id="28" name="Macheta entitate Obiect „cană”"/>
          <p:cNvSpPr txBox="1"/>
          <p:nvPr/>
        </p:nvSpPr>
        <p:spPr>
          <a:xfrm>
            <a:off x="777240" y="3255264"/>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Obiect „cană”</a:t>
            </a:r>
            <a:endParaRPr lang="en-US" sz="1400" dirty="0"/>
          </a:p>
        </p:txBody>
      </p:sp>
      <p:sp>
        <p:nvSpPr>
          <p:cNvPr id="29" name="Macheta celula Obiect „cană” 0"/>
          <p:cNvSpPr/>
          <p:nvPr/>
        </p:nvSpPr>
        <p:spPr>
          <a:xfrm>
            <a:off x="3063240" y="3255264"/>
            <a:ext cx="1554480" cy="512064"/>
          </a:xfrm>
          <a:prstGeom prst="rect">
            <a:avLst/>
          </a:prstGeom>
          <a:solidFill>
            <a:schemeClr val="bg1"/>
          </a:solidFill>
          <a:ln w="12700">
            <a:solidFill>
              <a:schemeClr val="bg2"/>
            </a:solidFill>
            <a:prstDash val="solid"/>
          </a:ln>
        </p:spPr>
      </p:sp>
      <p:sp>
        <p:nvSpPr>
          <p:cNvPr id="30" name="Macheta stare Obiect „cană” 0"/>
          <p:cNvSpPr txBox="1"/>
          <p:nvPr/>
        </p:nvSpPr>
        <p:spPr>
          <a:xfrm>
            <a:off x="3063240" y="3255264"/>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31" name="Macheta celula Obiect „cană” 1"/>
          <p:cNvSpPr/>
          <p:nvPr/>
        </p:nvSpPr>
        <p:spPr>
          <a:xfrm>
            <a:off x="4617720" y="3255264"/>
            <a:ext cx="1554480" cy="512064"/>
          </a:xfrm>
          <a:prstGeom prst="rect">
            <a:avLst/>
          </a:prstGeom>
          <a:solidFill>
            <a:schemeClr val="bg1"/>
          </a:solidFill>
          <a:ln w="12700">
            <a:solidFill>
              <a:schemeClr val="bg2"/>
            </a:solidFill>
            <a:prstDash val="solid"/>
          </a:ln>
        </p:spPr>
      </p:sp>
      <p:sp>
        <p:nvSpPr>
          <p:cNvPr id="32" name="Macheta stare Obiect „cană” 1"/>
          <p:cNvSpPr txBox="1"/>
          <p:nvPr/>
        </p:nvSpPr>
        <p:spPr>
          <a:xfrm>
            <a:off x="4617720" y="3255264"/>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33" name="Macheta celula Obiect „cană” 2"/>
          <p:cNvSpPr/>
          <p:nvPr/>
        </p:nvSpPr>
        <p:spPr>
          <a:xfrm>
            <a:off x="6172200" y="3255264"/>
            <a:ext cx="1554480" cy="512064"/>
          </a:xfrm>
          <a:prstGeom prst="rect">
            <a:avLst/>
          </a:prstGeom>
          <a:solidFill>
            <a:schemeClr val="bg1"/>
          </a:solidFill>
          <a:ln w="12700">
            <a:solidFill>
              <a:schemeClr val="bg2"/>
            </a:solidFill>
            <a:prstDash val="solid"/>
          </a:ln>
        </p:spPr>
      </p:sp>
      <p:sp>
        <p:nvSpPr>
          <p:cNvPr id="34" name="Macheta stare Obiect „cană” 2"/>
          <p:cNvSpPr txBox="1"/>
          <p:nvPr/>
        </p:nvSpPr>
        <p:spPr>
          <a:xfrm>
            <a:off x="6172200" y="3255264"/>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35" name="Macheta rand Obiect „laptop”"/>
          <p:cNvSpPr/>
          <p:nvPr/>
        </p:nvSpPr>
        <p:spPr>
          <a:xfrm>
            <a:off x="685800" y="3767328"/>
            <a:ext cx="2377440" cy="512064"/>
          </a:xfrm>
          <a:prstGeom prst="rect">
            <a:avLst/>
          </a:prstGeom>
          <a:solidFill>
            <a:schemeClr val="bg1"/>
          </a:solidFill>
          <a:ln w="12700">
            <a:solidFill>
              <a:schemeClr val="bg2"/>
            </a:solidFill>
            <a:prstDash val="solid"/>
          </a:ln>
        </p:spPr>
      </p:sp>
      <p:sp>
        <p:nvSpPr>
          <p:cNvPr id="36" name="Macheta entitate Obiect „laptop”"/>
          <p:cNvSpPr txBox="1"/>
          <p:nvPr/>
        </p:nvSpPr>
        <p:spPr>
          <a:xfrm>
            <a:off x="777240" y="3767328"/>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Obiect „laptop”</a:t>
            </a:r>
            <a:endParaRPr lang="en-US" sz="1400" dirty="0"/>
          </a:p>
        </p:txBody>
      </p:sp>
      <p:sp>
        <p:nvSpPr>
          <p:cNvPr id="37" name="Macheta celula Obiect „laptop” 0"/>
          <p:cNvSpPr/>
          <p:nvPr/>
        </p:nvSpPr>
        <p:spPr>
          <a:xfrm>
            <a:off x="3063240" y="3767328"/>
            <a:ext cx="1554480" cy="512064"/>
          </a:xfrm>
          <a:prstGeom prst="rect">
            <a:avLst/>
          </a:prstGeom>
          <a:solidFill>
            <a:schemeClr val="bg1"/>
          </a:solidFill>
          <a:ln w="12700">
            <a:solidFill>
              <a:schemeClr val="bg2"/>
            </a:solidFill>
            <a:prstDash val="solid"/>
          </a:ln>
        </p:spPr>
      </p:sp>
      <p:sp>
        <p:nvSpPr>
          <p:cNvPr id="38" name="Macheta stare Obiect „laptop” 0"/>
          <p:cNvSpPr txBox="1"/>
          <p:nvPr/>
        </p:nvSpPr>
        <p:spPr>
          <a:xfrm>
            <a:off x="3063240" y="3767328"/>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39" name="Macheta celula Obiect „laptop” 1"/>
          <p:cNvSpPr/>
          <p:nvPr/>
        </p:nvSpPr>
        <p:spPr>
          <a:xfrm>
            <a:off x="4617720" y="3767328"/>
            <a:ext cx="1554480" cy="512064"/>
          </a:xfrm>
          <a:prstGeom prst="rect">
            <a:avLst/>
          </a:prstGeom>
          <a:solidFill>
            <a:schemeClr val="bg1"/>
          </a:solidFill>
          <a:ln w="12700">
            <a:solidFill>
              <a:schemeClr val="bg2"/>
            </a:solidFill>
            <a:prstDash val="solid"/>
          </a:ln>
        </p:spPr>
      </p:sp>
      <p:sp>
        <p:nvSpPr>
          <p:cNvPr id="40" name="Macheta stare Obiect „laptop” 1"/>
          <p:cNvSpPr txBox="1"/>
          <p:nvPr/>
        </p:nvSpPr>
        <p:spPr>
          <a:xfrm>
            <a:off x="4617720" y="3767328"/>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41" name="Macheta celula Obiect „laptop” 2"/>
          <p:cNvSpPr/>
          <p:nvPr/>
        </p:nvSpPr>
        <p:spPr>
          <a:xfrm>
            <a:off x="6172200" y="3767328"/>
            <a:ext cx="1554480" cy="512064"/>
          </a:xfrm>
          <a:prstGeom prst="rect">
            <a:avLst/>
          </a:prstGeom>
          <a:solidFill>
            <a:schemeClr val="bg1"/>
          </a:solidFill>
          <a:ln w="12700">
            <a:solidFill>
              <a:schemeClr val="bg2"/>
            </a:solidFill>
            <a:prstDash val="solid"/>
          </a:ln>
        </p:spPr>
      </p:sp>
      <p:sp>
        <p:nvSpPr>
          <p:cNvPr id="42" name="Macheta stare Obiect „laptop” 2"/>
          <p:cNvSpPr txBox="1"/>
          <p:nvPr/>
        </p:nvSpPr>
        <p:spPr>
          <a:xfrm>
            <a:off x="6172200" y="3767328"/>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43" name="Macheta rand Obiect „sticlă”"/>
          <p:cNvSpPr/>
          <p:nvPr/>
        </p:nvSpPr>
        <p:spPr>
          <a:xfrm>
            <a:off x="685800" y="4279392"/>
            <a:ext cx="2377440" cy="512064"/>
          </a:xfrm>
          <a:prstGeom prst="rect">
            <a:avLst/>
          </a:prstGeom>
          <a:solidFill>
            <a:schemeClr val="bg1"/>
          </a:solidFill>
          <a:ln w="12700">
            <a:solidFill>
              <a:schemeClr val="bg2"/>
            </a:solidFill>
            <a:prstDash val="solid"/>
          </a:ln>
        </p:spPr>
      </p:sp>
      <p:sp>
        <p:nvSpPr>
          <p:cNvPr id="44" name="Macheta entitate Obiect „sticlă”"/>
          <p:cNvSpPr txBox="1"/>
          <p:nvPr/>
        </p:nvSpPr>
        <p:spPr>
          <a:xfrm>
            <a:off x="777240" y="4279392"/>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Obiect „sticlă”</a:t>
            </a:r>
            <a:endParaRPr lang="en-US" sz="1400" dirty="0"/>
          </a:p>
        </p:txBody>
      </p:sp>
      <p:sp>
        <p:nvSpPr>
          <p:cNvPr id="45" name="Macheta celula Obiect „sticlă” 0"/>
          <p:cNvSpPr/>
          <p:nvPr/>
        </p:nvSpPr>
        <p:spPr>
          <a:xfrm>
            <a:off x="3063240" y="4279392"/>
            <a:ext cx="1554480" cy="512064"/>
          </a:xfrm>
          <a:prstGeom prst="rect">
            <a:avLst/>
          </a:prstGeom>
          <a:solidFill>
            <a:schemeClr val="bg1"/>
          </a:solidFill>
          <a:ln w="12700">
            <a:solidFill>
              <a:schemeClr val="bg2"/>
            </a:solidFill>
            <a:prstDash val="solid"/>
          </a:ln>
        </p:spPr>
      </p:sp>
      <p:sp>
        <p:nvSpPr>
          <p:cNvPr id="46" name="Macheta stare Obiect „sticlă” 0"/>
          <p:cNvSpPr txBox="1"/>
          <p:nvPr/>
        </p:nvSpPr>
        <p:spPr>
          <a:xfrm>
            <a:off x="3063240" y="4279392"/>
            <a:ext cx="1554480" cy="512064"/>
          </a:xfrm>
          <a:prstGeom prst="rect">
            <a:avLst/>
          </a:prstGeom>
          <a:noFill/>
          <a:ln/>
        </p:spPr>
        <p:txBody>
          <a:bodyPr wrap="square" lIns="0" tIns="0" rIns="0" bIns="0" rtlCol="0" anchor="ctr"/>
          <a:lstStyle/>
          <a:p>
            <a:pPr algn="ctr" indent="0" marL="0">
              <a:buNone/>
            </a:pPr>
            <a:r>
              <a:rPr lang="en-US" sz="1800" b="1" dirty="0">
                <a:solidFill>
                  <a:schemeClr val="accent6"/>
                </a:solidFill>
                <a:latin typeface="Calibri" pitchFamily="34" charset="0"/>
                <a:ea typeface="Calibri" pitchFamily="34" charset="-122"/>
                <a:cs typeface="Calibri" pitchFamily="34" charset="-120"/>
              </a:rPr>
              <a:t>⟳</a:t>
            </a:r>
            <a:endParaRPr lang="en-US" sz="1800" dirty="0"/>
          </a:p>
        </p:txBody>
      </p:sp>
      <p:sp>
        <p:nvSpPr>
          <p:cNvPr id="47" name="Macheta celula Obiect „sticlă” 1"/>
          <p:cNvSpPr/>
          <p:nvPr/>
        </p:nvSpPr>
        <p:spPr>
          <a:xfrm>
            <a:off x="4617720" y="4279392"/>
            <a:ext cx="1554480" cy="512064"/>
          </a:xfrm>
          <a:prstGeom prst="rect">
            <a:avLst/>
          </a:prstGeom>
          <a:solidFill>
            <a:schemeClr val="bg1"/>
          </a:solidFill>
          <a:ln w="12700">
            <a:solidFill>
              <a:schemeClr val="bg2"/>
            </a:solidFill>
            <a:prstDash val="solid"/>
          </a:ln>
        </p:spPr>
      </p:sp>
      <p:sp>
        <p:nvSpPr>
          <p:cNvPr id="48" name="Macheta stare Obiect „sticlă” 1"/>
          <p:cNvSpPr txBox="1"/>
          <p:nvPr/>
        </p:nvSpPr>
        <p:spPr>
          <a:xfrm>
            <a:off x="4617720" y="4279392"/>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49" name="Macheta celula Obiect „sticlă” 2"/>
          <p:cNvSpPr/>
          <p:nvPr/>
        </p:nvSpPr>
        <p:spPr>
          <a:xfrm>
            <a:off x="6172200" y="4279392"/>
            <a:ext cx="1554480" cy="512064"/>
          </a:xfrm>
          <a:prstGeom prst="rect">
            <a:avLst/>
          </a:prstGeom>
          <a:solidFill>
            <a:schemeClr val="bg1"/>
          </a:solidFill>
          <a:ln w="12700">
            <a:solidFill>
              <a:schemeClr val="bg2"/>
            </a:solidFill>
            <a:prstDash val="solid"/>
          </a:ln>
        </p:spPr>
      </p:sp>
      <p:sp>
        <p:nvSpPr>
          <p:cNvPr id="50" name="Macheta stare Obiect „sticlă” 2"/>
          <p:cNvSpPr txBox="1"/>
          <p:nvPr/>
        </p:nvSpPr>
        <p:spPr>
          <a:xfrm>
            <a:off x="6172200" y="4279392"/>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51" name="Macheta rand Obiect „carte” (șters)"/>
          <p:cNvSpPr/>
          <p:nvPr/>
        </p:nvSpPr>
        <p:spPr>
          <a:xfrm>
            <a:off x="685800" y="4791456"/>
            <a:ext cx="2377440" cy="512064"/>
          </a:xfrm>
          <a:prstGeom prst="rect">
            <a:avLst/>
          </a:prstGeom>
          <a:solidFill>
            <a:schemeClr val="bg1"/>
          </a:solidFill>
          <a:ln w="12700">
            <a:solidFill>
              <a:schemeClr val="bg2"/>
            </a:solidFill>
            <a:prstDash val="solid"/>
          </a:ln>
        </p:spPr>
      </p:sp>
      <p:sp>
        <p:nvSpPr>
          <p:cNvPr id="52" name="Macheta entitate Obiect „carte” (șters)"/>
          <p:cNvSpPr txBox="1"/>
          <p:nvPr/>
        </p:nvSpPr>
        <p:spPr>
          <a:xfrm>
            <a:off x="777240" y="4791456"/>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Obiect „carte” (șters)</a:t>
            </a:r>
            <a:endParaRPr lang="en-US" sz="1400" dirty="0"/>
          </a:p>
        </p:txBody>
      </p:sp>
      <p:sp>
        <p:nvSpPr>
          <p:cNvPr id="53" name="Macheta celula Obiect „carte” (șters) 0"/>
          <p:cNvSpPr/>
          <p:nvPr/>
        </p:nvSpPr>
        <p:spPr>
          <a:xfrm>
            <a:off x="3063240" y="4791456"/>
            <a:ext cx="1554480" cy="512064"/>
          </a:xfrm>
          <a:prstGeom prst="rect">
            <a:avLst/>
          </a:prstGeom>
          <a:solidFill>
            <a:schemeClr val="bg1"/>
          </a:solidFill>
          <a:ln w="12700">
            <a:solidFill>
              <a:schemeClr val="bg2"/>
            </a:solidFill>
            <a:prstDash val="solid"/>
          </a:ln>
        </p:spPr>
      </p:sp>
      <p:sp>
        <p:nvSpPr>
          <p:cNvPr id="54" name="Macheta stare Obiect „carte” (șters) 0"/>
          <p:cNvSpPr txBox="1"/>
          <p:nvPr/>
        </p:nvSpPr>
        <p:spPr>
          <a:xfrm>
            <a:off x="3063240" y="4791456"/>
            <a:ext cx="1554480" cy="512064"/>
          </a:xfrm>
          <a:prstGeom prst="rect">
            <a:avLst/>
          </a:prstGeom>
          <a:noFill/>
          <a:ln/>
        </p:spPr>
        <p:txBody>
          <a:bodyPr wrap="square" lIns="0" tIns="0" rIns="0" bIns="0" rtlCol="0" anchor="ct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p>
        </p:txBody>
      </p:sp>
      <p:sp>
        <p:nvSpPr>
          <p:cNvPr id="55" name="Macheta celula Obiect „carte” (șters) 1"/>
          <p:cNvSpPr/>
          <p:nvPr/>
        </p:nvSpPr>
        <p:spPr>
          <a:xfrm>
            <a:off x="4617720" y="4791456"/>
            <a:ext cx="1554480" cy="512064"/>
          </a:xfrm>
          <a:prstGeom prst="rect">
            <a:avLst/>
          </a:prstGeom>
          <a:solidFill>
            <a:schemeClr val="bg1"/>
          </a:solidFill>
          <a:ln w="12700">
            <a:solidFill>
              <a:schemeClr val="bg2"/>
            </a:solidFill>
            <a:prstDash val="solid"/>
          </a:ln>
        </p:spPr>
      </p:sp>
      <p:sp>
        <p:nvSpPr>
          <p:cNvPr id="56" name="Macheta stare Obiect „carte” (șters) 1"/>
          <p:cNvSpPr txBox="1"/>
          <p:nvPr/>
        </p:nvSpPr>
        <p:spPr>
          <a:xfrm>
            <a:off x="4617720" y="4791456"/>
            <a:ext cx="1554480" cy="512064"/>
          </a:xfrm>
          <a:prstGeom prst="rect">
            <a:avLst/>
          </a:prstGeom>
          <a:noFill/>
          <a:ln/>
        </p:spPr>
        <p:txBody>
          <a:bodyPr wrap="square" lIns="0" tIns="0" rIns="0" bIns="0" rtlCol="0" anchor="ctr"/>
          <a:lstStyle/>
          <a:p>
            <a:pPr algn="ctr" indent="0" marL="0">
              <a:buNone/>
            </a:pPr>
            <a:r>
              <a:rPr lang="en-US" sz="1800" b="1" dirty="0">
                <a:solidFill>
                  <a:schemeClr val="accent6"/>
                </a:solidFill>
                <a:latin typeface="Calibri" pitchFamily="34" charset="0"/>
                <a:ea typeface="Calibri" pitchFamily="34" charset="-122"/>
                <a:cs typeface="Calibri" pitchFamily="34" charset="-120"/>
              </a:rPr>
              <a:t>⟳</a:t>
            </a:r>
            <a:endParaRPr lang="en-US" sz="1800" dirty="0"/>
          </a:p>
        </p:txBody>
      </p:sp>
      <p:sp>
        <p:nvSpPr>
          <p:cNvPr id="57" name="Macheta celula Obiect „carte” (șters) 2"/>
          <p:cNvSpPr/>
          <p:nvPr/>
        </p:nvSpPr>
        <p:spPr>
          <a:xfrm>
            <a:off x="6172200" y="4791456"/>
            <a:ext cx="1554480" cy="512064"/>
          </a:xfrm>
          <a:prstGeom prst="rect">
            <a:avLst/>
          </a:prstGeom>
          <a:solidFill>
            <a:schemeClr val="bg1"/>
          </a:solidFill>
          <a:ln w="12700">
            <a:solidFill>
              <a:schemeClr val="bg2"/>
            </a:solidFill>
            <a:prstDash val="solid"/>
          </a:ln>
        </p:spPr>
      </p:sp>
      <p:sp>
        <p:nvSpPr>
          <p:cNvPr id="58" name="Macheta stare Obiect „carte” (șters) 2"/>
          <p:cNvSpPr txBox="1"/>
          <p:nvPr/>
        </p:nvSpPr>
        <p:spPr>
          <a:xfrm>
            <a:off x="6172200" y="4791456"/>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 tombstone</a:t>
            </a:r>
            <a:endParaRPr lang="en-US" sz="1800" dirty="0"/>
          </a:p>
        </p:txBody>
      </p:sp>
      <p:sp>
        <p:nvSpPr>
          <p:cNvPr id="59" name="Macheta rand Foto „monitor”"/>
          <p:cNvSpPr/>
          <p:nvPr/>
        </p:nvSpPr>
        <p:spPr>
          <a:xfrm>
            <a:off x="685800" y="5303520"/>
            <a:ext cx="2377440" cy="512064"/>
          </a:xfrm>
          <a:prstGeom prst="rect">
            <a:avLst/>
          </a:prstGeom>
          <a:solidFill>
            <a:schemeClr val="bg1"/>
          </a:solidFill>
          <a:ln w="12700">
            <a:solidFill>
              <a:schemeClr val="bg2"/>
            </a:solidFill>
            <a:prstDash val="solid"/>
          </a:ln>
        </p:spPr>
      </p:sp>
      <p:sp>
        <p:nvSpPr>
          <p:cNvPr id="60" name="Macheta entitate Foto „monitor”"/>
          <p:cNvSpPr txBox="1"/>
          <p:nvPr/>
        </p:nvSpPr>
        <p:spPr>
          <a:xfrm>
            <a:off x="777240" y="5303520"/>
            <a:ext cx="2194560" cy="512064"/>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Foto „monitor”</a:t>
            </a:r>
            <a:endParaRPr lang="en-US" sz="1400" dirty="0"/>
          </a:p>
        </p:txBody>
      </p:sp>
      <p:sp>
        <p:nvSpPr>
          <p:cNvPr id="61" name="Macheta celula Foto „monitor” 0"/>
          <p:cNvSpPr/>
          <p:nvPr/>
        </p:nvSpPr>
        <p:spPr>
          <a:xfrm>
            <a:off x="3063240" y="5303520"/>
            <a:ext cx="1554480" cy="512064"/>
          </a:xfrm>
          <a:prstGeom prst="rect">
            <a:avLst/>
          </a:prstGeom>
          <a:solidFill>
            <a:schemeClr val="bg1"/>
          </a:solidFill>
          <a:ln w="12700">
            <a:solidFill>
              <a:schemeClr val="bg2"/>
            </a:solidFill>
            <a:prstDash val="solid"/>
          </a:ln>
        </p:spPr>
      </p:sp>
      <p:sp>
        <p:nvSpPr>
          <p:cNvPr id="62" name="Macheta stare Foto „monitor” 0"/>
          <p:cNvSpPr txBox="1"/>
          <p:nvPr/>
        </p:nvSpPr>
        <p:spPr>
          <a:xfrm>
            <a:off x="3063240" y="5303520"/>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63" name="Macheta celula Foto „monitor” 1"/>
          <p:cNvSpPr/>
          <p:nvPr/>
        </p:nvSpPr>
        <p:spPr>
          <a:xfrm>
            <a:off x="4617720" y="5303520"/>
            <a:ext cx="1554480" cy="512064"/>
          </a:xfrm>
          <a:prstGeom prst="rect">
            <a:avLst/>
          </a:prstGeom>
          <a:solidFill>
            <a:schemeClr val="bg1"/>
          </a:solidFill>
          <a:ln w="12700">
            <a:solidFill>
              <a:schemeClr val="bg2"/>
            </a:solidFill>
            <a:prstDash val="solid"/>
          </a:ln>
        </p:spPr>
      </p:sp>
      <p:sp>
        <p:nvSpPr>
          <p:cNvPr id="64" name="Macheta stare Foto „monitor” 1"/>
          <p:cNvSpPr txBox="1"/>
          <p:nvPr/>
        </p:nvSpPr>
        <p:spPr>
          <a:xfrm>
            <a:off x="4617720" y="5303520"/>
            <a:ext cx="1554480" cy="512064"/>
          </a:xfrm>
          <a:prstGeom prst="rect">
            <a:avLst/>
          </a:prstGeom>
          <a:noFill/>
          <a:ln/>
        </p:spPr>
        <p:txBody>
          <a:bodyPr wrap="square" lIns="0" tIns="0" rIns="0" bIns="0" rtlCol="0" anchor="ctr"/>
          <a:lstStyle/>
          <a:p>
            <a:pPr algn="ctr" indent="0" marL="0">
              <a:buNone/>
            </a:pPr>
            <a:r>
              <a:rPr lang="en-US" sz="1800" b="1" dirty="0">
                <a:solidFill>
                  <a:schemeClr val="accent5"/>
                </a:solidFill>
                <a:latin typeface="Calibri" pitchFamily="34" charset="0"/>
                <a:ea typeface="Calibri" pitchFamily="34" charset="-122"/>
                <a:cs typeface="Calibri" pitchFamily="34" charset="-120"/>
              </a:rPr>
              <a:t>✗</a:t>
            </a:r>
            <a:endParaRPr lang="en-US" sz="1800" dirty="0"/>
          </a:p>
        </p:txBody>
      </p:sp>
      <p:sp>
        <p:nvSpPr>
          <p:cNvPr id="65" name="Macheta celula Foto „monitor” 2"/>
          <p:cNvSpPr/>
          <p:nvPr/>
        </p:nvSpPr>
        <p:spPr>
          <a:xfrm>
            <a:off x="6172200" y="5303520"/>
            <a:ext cx="1554480" cy="512064"/>
          </a:xfrm>
          <a:prstGeom prst="rect">
            <a:avLst/>
          </a:prstGeom>
          <a:solidFill>
            <a:schemeClr val="bg1"/>
          </a:solidFill>
          <a:ln w="12700">
            <a:solidFill>
              <a:schemeClr val="bg2"/>
            </a:solidFill>
            <a:prstDash val="solid"/>
          </a:ln>
        </p:spPr>
      </p:sp>
      <p:sp>
        <p:nvSpPr>
          <p:cNvPr id="66" name="Macheta stare Foto „monitor” 2"/>
          <p:cNvSpPr txBox="1"/>
          <p:nvPr/>
        </p:nvSpPr>
        <p:spPr>
          <a:xfrm>
            <a:off x="6172200" y="5303520"/>
            <a:ext cx="1554480" cy="512064"/>
          </a:xfrm>
          <a:prstGeom prst="rect">
            <a:avLst/>
          </a:prstGeom>
          <a:noFill/>
          <a:ln/>
        </p:spPr>
        <p:txBody>
          <a:bodyPr wrap="square" lIns="0" tIns="0" rIns="0" bIns="0" rtlCol="0" anchor="ctr"/>
          <a:lstStyle/>
          <a:p>
            <a:pPr algn="ctr" indent="0" marL="0">
              <a:buNone/>
            </a:pPr>
            <a:r>
              <a:rPr lang="en-US" sz="1800" b="1" dirty="0">
                <a:solidFill>
                  <a:schemeClr val="accent4"/>
                </a:solidFill>
                <a:latin typeface="Calibri" pitchFamily="34" charset="0"/>
                <a:ea typeface="Calibri" pitchFamily="34" charset="-122"/>
                <a:cs typeface="Calibri" pitchFamily="34" charset="-120"/>
              </a:rPr>
              <a:t>✓</a:t>
            </a:r>
            <a:endParaRPr lang="en-US" sz="1800" dirty="0"/>
          </a:p>
        </p:txBody>
      </p:sp>
      <p:sp>
        <p:nvSpPr>
          <p:cNvPr id="67" name="Macheta diferenta"/>
          <p:cNvSpPr txBox="1"/>
          <p:nvPr/>
        </p:nvSpPr>
        <p:spPr>
          <a:xfrm>
            <a:off x="4709160" y="5358384"/>
            <a:ext cx="640080" cy="201168"/>
          </a:xfrm>
          <a:prstGeom prst="rect">
            <a:avLst/>
          </a:prstGeom>
          <a:noFill/>
          <a:ln/>
        </p:spPr>
        <p:txBody>
          <a:bodyPr wrap="square" lIns="0" tIns="0" rIns="0" bIns="0" rtlCol="0" anchor="t"/>
          <a:lstStyle/>
          <a:p>
            <a:pPr indent="0" marL="0">
              <a:buNone/>
            </a:pPr>
            <a:r>
              <a:rPr lang="en-US" sz="1000" b="1" dirty="0">
                <a:solidFill>
                  <a:schemeClr val="accent5"/>
                </a:solidFill>
                <a:latin typeface="Calibri" pitchFamily="34" charset="0"/>
                <a:ea typeface="Calibri" pitchFamily="34" charset="-122"/>
                <a:cs typeface="Calibri" pitchFamily="34" charset="-120"/>
              </a:rPr>
              <a:t>≠ hash</a:t>
            </a:r>
            <a:endParaRPr lang="en-US" sz="1000" dirty="0"/>
          </a:p>
        </p:txBody>
      </p:sp>
      <p:sp>
        <p:nvSpPr>
          <p:cNvPr id="68" name="Legenda ✓ PREZENT"/>
          <p:cNvSpPr/>
          <p:nvPr/>
        </p:nvSpPr>
        <p:spPr>
          <a:xfrm>
            <a:off x="8229600" y="1325880"/>
            <a:ext cx="3502152" cy="411480"/>
          </a:xfrm>
          <a:prstGeom prst="roundRect">
            <a:avLst>
              <a:gd name="adj" fmla="val 13333"/>
            </a:avLst>
          </a:prstGeom>
          <a:solidFill>
            <a:schemeClr val="accent4"/>
          </a:solidFill>
          <a:ln/>
        </p:spPr>
      </p:sp>
      <p:sp>
        <p:nvSpPr>
          <p:cNvPr id="69" name="Legenda ✓ PREZENT text"/>
          <p:cNvSpPr txBox="1"/>
          <p:nvPr/>
        </p:nvSpPr>
        <p:spPr>
          <a:xfrm>
            <a:off x="8229600" y="1325880"/>
            <a:ext cx="3502152"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 PREZENT</a:t>
            </a:r>
            <a:endParaRPr lang="en-US" sz="1600" dirty="0"/>
          </a:p>
        </p:txBody>
      </p:sp>
      <p:sp>
        <p:nvSpPr>
          <p:cNvPr id="70" name="Legenda text ✓ PREZENT"/>
          <p:cNvSpPr txBox="1"/>
          <p:nvPr/>
        </p:nvSpPr>
        <p:spPr>
          <a:xfrm>
            <a:off x="8229600" y="1783080"/>
            <a:ext cx="3502152"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entitatea există pe dispozitiv sau pe server, cu același hash.</a:t>
            </a:r>
            <a:endParaRPr lang="en-US" sz="1400" dirty="0"/>
          </a:p>
        </p:txBody>
      </p:sp>
      <p:sp>
        <p:nvSpPr>
          <p:cNvPr id="71" name="Legenda ✗ LIPSĂ"/>
          <p:cNvSpPr/>
          <p:nvPr/>
        </p:nvSpPr>
        <p:spPr>
          <a:xfrm>
            <a:off x="8229600" y="2514600"/>
            <a:ext cx="3502152" cy="411480"/>
          </a:xfrm>
          <a:prstGeom prst="roundRect">
            <a:avLst>
              <a:gd name="adj" fmla="val 13333"/>
            </a:avLst>
          </a:prstGeom>
          <a:solidFill>
            <a:schemeClr val="accent5"/>
          </a:solidFill>
          <a:ln/>
        </p:spPr>
      </p:sp>
      <p:sp>
        <p:nvSpPr>
          <p:cNvPr id="72" name="Legenda ✗ LIPSĂ text"/>
          <p:cNvSpPr txBox="1"/>
          <p:nvPr/>
        </p:nvSpPr>
        <p:spPr>
          <a:xfrm>
            <a:off x="8229600" y="2514600"/>
            <a:ext cx="3502152"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 LIPSĂ</a:t>
            </a:r>
            <a:endParaRPr lang="en-US" sz="1600" dirty="0"/>
          </a:p>
        </p:txBody>
      </p:sp>
      <p:sp>
        <p:nvSpPr>
          <p:cNvPr id="73" name="Legenda text ✗ LIPSĂ"/>
          <p:cNvSpPr txBox="1"/>
          <p:nvPr/>
        </p:nvSpPr>
        <p:spPr>
          <a:xfrm>
            <a:off x="8229600" y="2971800"/>
            <a:ext cx="3502152"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nu există. Corect doar unde slide-ul cere „lipsă” (ștergere, alt user).</a:t>
            </a:r>
            <a:endParaRPr lang="en-US" sz="1400" dirty="0"/>
          </a:p>
        </p:txBody>
      </p:sp>
      <p:sp>
        <p:nvSpPr>
          <p:cNvPr id="74" name="Legenda ⟳ ÎN TRANZIT"/>
          <p:cNvSpPr/>
          <p:nvPr/>
        </p:nvSpPr>
        <p:spPr>
          <a:xfrm>
            <a:off x="8229600" y="3703320"/>
            <a:ext cx="3502152" cy="411480"/>
          </a:xfrm>
          <a:prstGeom prst="roundRect">
            <a:avLst>
              <a:gd name="adj" fmla="val 13333"/>
            </a:avLst>
          </a:prstGeom>
          <a:solidFill>
            <a:schemeClr val="accent6"/>
          </a:solidFill>
          <a:ln/>
        </p:spPr>
      </p:sp>
      <p:sp>
        <p:nvSpPr>
          <p:cNvPr id="75" name="Legenda ⟳ ÎN TRANZIT text"/>
          <p:cNvSpPr txBox="1"/>
          <p:nvPr/>
        </p:nvSpPr>
        <p:spPr>
          <a:xfrm>
            <a:off x="8229600" y="3703320"/>
            <a:ext cx="3502152"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 ÎN TRANZIT</a:t>
            </a:r>
            <a:endParaRPr lang="en-US" sz="1600" dirty="0"/>
          </a:p>
        </p:txBody>
      </p:sp>
      <p:sp>
        <p:nvSpPr>
          <p:cNvPr id="76" name="Legenda text ⟳ ÎN TRANZIT"/>
          <p:cNvSpPr txBox="1"/>
          <p:nvPr/>
        </p:nvSpPr>
        <p:spPr>
          <a:xfrm>
            <a:off x="8229600" y="4160520"/>
            <a:ext cx="3502152" cy="6400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 în drum. Așteptăm până la 10 s; dacă rămâne, e FAIL.</a:t>
            </a:r>
            <a:endParaRPr lang="en-US" sz="1400" dirty="0"/>
          </a:p>
        </p:txBody>
      </p:sp>
      <p:sp>
        <p:nvSpPr>
          <p:cNvPr id="77" name="Legenda diferente"/>
          <p:cNvSpPr txBox="1"/>
          <p:nvPr/>
        </p:nvSpPr>
        <p:spPr>
          <a:xfrm>
            <a:off x="8229600" y="4937760"/>
            <a:ext cx="3502152" cy="685800"/>
          </a:xfrm>
          <a:prstGeom prst="rect">
            <a:avLst/>
          </a:prstGeom>
          <a:noFill/>
          <a:ln/>
        </p:spPr>
        <p:txBody>
          <a:bodyPr wrap="square" lIns="0" tIns="0" rIns="0" bIns="0" rtlCol="0" anchor="t"/>
          <a:lstStyle/>
          <a:p>
            <a:pPr indent="0" marL="0">
              <a:buNone/>
            </a:pPr>
            <a:r>
              <a:rPr lang="en-US" sz="1400" b="1" dirty="0">
                <a:solidFill>
                  <a:schemeClr val="accent5"/>
                </a:solidFill>
                <a:latin typeface="Calibri" pitchFamily="34" charset="0"/>
                <a:ea typeface="Calibri" pitchFamily="34" charset="-122"/>
                <a:cs typeface="Calibri" pitchFamily="34" charset="-120"/>
              </a:rPr>
              <a:t>≠ </a:t>
            </a:r>
            <a:pPr indent="0" marL="0">
              <a:buNone/>
            </a:pPr>
            <a:r>
              <a:rPr lang="en-US" sz="1400" dirty="0">
                <a:solidFill>
                  <a:schemeClr val="tx1"/>
                </a:solidFill>
                <a:latin typeface="Calibri" pitchFamily="34" charset="0"/>
                <a:ea typeface="Calibri" pitchFamily="34" charset="-122"/>
                <a:cs typeface="Calibri" pitchFamily="34" charset="-120"/>
              </a:rPr>
              <a:t>diferență de nume, poziție sau hash: se citește ca FAIL până e explicată.</a:t>
            </a:r>
            <a:endParaRPr lang="en-US" sz="1400" dirty="0"/>
          </a:p>
        </p:txBody>
      </p:sp>
      <p:sp>
        <p:nvSpPr>
          <p:cNvPr id="78" name="Legenda exemplu"/>
          <p:cNvSpPr txBox="1"/>
          <p:nvPr/>
        </p:nvSpPr>
        <p:spPr>
          <a:xfrm>
            <a:off x="8229600" y="5669280"/>
            <a:ext cx="3502152" cy="4572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Exemplu: „sticlă” încă în tranzit pe A; foto lipsă pe B.</a:t>
            </a:r>
            <a:endParaRPr lang="en-US" sz="12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Cum comunicăm rezultatele</a:t>
            </a:r>
            <a:endParaRPr lang="en-US" sz="3600" dirty="0"/>
          </a:p>
        </p:txBody>
      </p:sp>
      <p:sp>
        <p:nvSpPr>
          <p:cNvPr id="3" name="Etapa 1"/>
          <p:cNvSpPr/>
          <p:nvPr/>
        </p:nvSpPr>
        <p:spPr>
          <a:xfrm>
            <a:off x="457200" y="1371600"/>
            <a:ext cx="2612898" cy="2514600"/>
          </a:xfrm>
          <a:prstGeom prst="roundRect">
            <a:avLst>
              <a:gd name="adj" fmla="val 2909"/>
            </a:avLst>
          </a:prstGeom>
          <a:solidFill>
            <a:schemeClr val="bg2"/>
          </a:solidFill>
          <a:ln/>
          <a:effectLst>
            <a:outerShdw sx="100000" sy="100000" kx="0" ky="0" algn="bl" rotWithShape="0" blurRad="76200" dist="25400" dir="5400000">
              <a:srgbClr val="17323F">
                <a:alpha val="14000"/>
              </a:srgbClr>
            </a:outerShdw>
          </a:effectLst>
        </p:spPr>
      </p:sp>
      <p:sp>
        <p:nvSpPr>
          <p:cNvPr id="4" name="Etapa 1 cerc"/>
          <p:cNvSpPr/>
          <p:nvPr/>
        </p:nvSpPr>
        <p:spPr>
          <a:xfrm>
            <a:off x="685800" y="1600200"/>
            <a:ext cx="640080" cy="640080"/>
          </a:xfrm>
          <a:prstGeom prst="ellipse">
            <a:avLst/>
          </a:prstGeom>
          <a:solidFill>
            <a:schemeClr val="accent1"/>
          </a:solidFill>
          <a:ln/>
        </p:spPr>
      </p:sp>
      <p:pic>
        <p:nvPicPr>
          <p:cNvPr id="5" name="Etapa 1 icon" descr="Etapa 1">    </p:cNvPr>
          <p:cNvPicPr>
            <a:picLocks noChangeAspect="1"/>
          </p:cNvPicPr>
          <p:nvPr/>
        </p:nvPicPr>
        <p:blipFill>
          <a:blip r:embed="rId1"/>
          <a:stretch>
            <a:fillRect/>
          </a:stretch>
        </p:blipFill>
        <p:spPr>
          <a:xfrm>
            <a:off x="858622" y="1773022"/>
            <a:ext cx="294437" cy="294437"/>
          </a:xfrm>
          <a:prstGeom prst="rect">
            <a:avLst/>
          </a:prstGeom>
        </p:spPr>
      </p:pic>
      <p:sp>
        <p:nvSpPr>
          <p:cNvPr id="6" name="Etapa titlu 1"/>
          <p:cNvSpPr txBox="1"/>
          <p:nvPr/>
        </p:nvSpPr>
        <p:spPr>
          <a:xfrm>
            <a:off x="685800" y="2377440"/>
            <a:ext cx="215569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1. În timpul sesiunii</a:t>
            </a:r>
            <a:endParaRPr lang="en-US" sz="1800" dirty="0"/>
          </a:p>
        </p:txBody>
      </p:sp>
      <p:sp>
        <p:nvSpPr>
          <p:cNvPr id="7" name="Etapa text 1"/>
          <p:cNvSpPr txBox="1"/>
          <p:nvPr/>
        </p:nvSpPr>
        <p:spPr>
          <a:xfrm>
            <a:off x="685800" y="2834640"/>
            <a:ext cx="21556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Fiecare pas: PASS, FAIL sau NOT RUN în /admin/test, cu ora.</a:t>
            </a:r>
            <a:endParaRPr lang="en-US" sz="1400" dirty="0"/>
          </a:p>
        </p:txBody>
      </p:sp>
      <p:sp>
        <p:nvSpPr>
          <p:cNvPr id="8" name="Etapa 2"/>
          <p:cNvSpPr/>
          <p:nvPr/>
        </p:nvSpPr>
        <p:spPr>
          <a:xfrm>
            <a:off x="3344418" y="1371600"/>
            <a:ext cx="2612898" cy="2514600"/>
          </a:xfrm>
          <a:prstGeom prst="roundRect">
            <a:avLst>
              <a:gd name="adj" fmla="val 2909"/>
            </a:avLst>
          </a:prstGeom>
          <a:solidFill>
            <a:schemeClr val="bg2"/>
          </a:solidFill>
          <a:ln/>
          <a:effectLst>
            <a:outerShdw sx="100000" sy="100000" kx="0" ky="0" algn="bl" rotWithShape="0" blurRad="76200" dist="25400" dir="5400000">
              <a:srgbClr val="17323F">
                <a:alpha val="14000"/>
              </a:srgbClr>
            </a:outerShdw>
          </a:effectLst>
        </p:spPr>
      </p:sp>
      <p:sp>
        <p:nvSpPr>
          <p:cNvPr id="9" name="Etapa 2 cerc"/>
          <p:cNvSpPr/>
          <p:nvPr/>
        </p:nvSpPr>
        <p:spPr>
          <a:xfrm>
            <a:off x="3573018" y="1600200"/>
            <a:ext cx="640080" cy="640080"/>
          </a:xfrm>
          <a:prstGeom prst="ellipse">
            <a:avLst/>
          </a:prstGeom>
          <a:solidFill>
            <a:schemeClr val="accent3"/>
          </a:solidFill>
          <a:ln/>
        </p:spPr>
      </p:sp>
      <p:pic>
        <p:nvPicPr>
          <p:cNvPr id="10" name="Etapa 2 icon" descr="Etapa 2">    </p:cNvPr>
          <p:cNvPicPr>
            <a:picLocks noChangeAspect="1"/>
          </p:cNvPicPr>
          <p:nvPr/>
        </p:nvPicPr>
        <p:blipFill>
          <a:blip r:embed="rId2"/>
          <a:stretch>
            <a:fillRect/>
          </a:stretch>
        </p:blipFill>
        <p:spPr>
          <a:xfrm>
            <a:off x="3745840" y="1773022"/>
            <a:ext cx="294437" cy="294437"/>
          </a:xfrm>
          <a:prstGeom prst="rect">
            <a:avLst/>
          </a:prstGeom>
        </p:spPr>
      </p:pic>
      <p:sp>
        <p:nvSpPr>
          <p:cNvPr id="11" name="Etapa titlu 2"/>
          <p:cNvSpPr txBox="1"/>
          <p:nvPr/>
        </p:nvSpPr>
        <p:spPr>
          <a:xfrm>
            <a:off x="3573018" y="2377440"/>
            <a:ext cx="215569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2. Export automat</a:t>
            </a:r>
            <a:endParaRPr lang="en-US" sz="1800" dirty="0"/>
          </a:p>
        </p:txBody>
      </p:sp>
      <p:sp>
        <p:nvSpPr>
          <p:cNvPr id="12" name="Etapa text 2"/>
          <p:cNvSpPr txBox="1"/>
          <p:nvPr/>
        </p:nvSpPr>
        <p:spPr>
          <a:xfrm>
            <a:off x="3573018" y="2834640"/>
            <a:ext cx="21556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Panoul scrie rezultatele în TEST_FINAL_RAPORT.md.</a:t>
            </a:r>
            <a:endParaRPr lang="en-US" sz="1400" dirty="0"/>
          </a:p>
        </p:txBody>
      </p:sp>
      <p:sp>
        <p:nvSpPr>
          <p:cNvPr id="13" name="Etapa 3"/>
          <p:cNvSpPr/>
          <p:nvPr/>
        </p:nvSpPr>
        <p:spPr>
          <a:xfrm>
            <a:off x="6231636" y="1371600"/>
            <a:ext cx="2612898" cy="2514600"/>
          </a:xfrm>
          <a:prstGeom prst="roundRect">
            <a:avLst>
              <a:gd name="adj" fmla="val 2909"/>
            </a:avLst>
          </a:prstGeom>
          <a:solidFill>
            <a:schemeClr val="bg2"/>
          </a:solidFill>
          <a:ln/>
          <a:effectLst>
            <a:outerShdw sx="100000" sy="100000" kx="0" ky="0" algn="bl" rotWithShape="0" blurRad="76200" dist="25400" dir="5400000">
              <a:srgbClr val="17323F">
                <a:alpha val="14000"/>
              </a:srgbClr>
            </a:outerShdw>
          </a:effectLst>
        </p:spPr>
      </p:sp>
      <p:sp>
        <p:nvSpPr>
          <p:cNvPr id="14" name="Etapa 3 cerc"/>
          <p:cNvSpPr/>
          <p:nvPr/>
        </p:nvSpPr>
        <p:spPr>
          <a:xfrm>
            <a:off x="6460236" y="1600200"/>
            <a:ext cx="640080" cy="640080"/>
          </a:xfrm>
          <a:prstGeom prst="ellipse">
            <a:avLst/>
          </a:prstGeom>
          <a:solidFill>
            <a:schemeClr val="accent2"/>
          </a:solidFill>
          <a:ln/>
        </p:spPr>
      </p:sp>
      <p:pic>
        <p:nvPicPr>
          <p:cNvPr id="15" name="Etapa 3 icon" descr="Etapa 3">    </p:cNvPr>
          <p:cNvPicPr>
            <a:picLocks noChangeAspect="1"/>
          </p:cNvPicPr>
          <p:nvPr/>
        </p:nvPicPr>
        <p:blipFill>
          <a:blip r:embed="rId3"/>
          <a:stretch>
            <a:fillRect/>
          </a:stretch>
        </p:blipFill>
        <p:spPr>
          <a:xfrm>
            <a:off x="6633058" y="1773022"/>
            <a:ext cx="294437" cy="294437"/>
          </a:xfrm>
          <a:prstGeom prst="rect">
            <a:avLst/>
          </a:prstGeom>
        </p:spPr>
      </p:pic>
      <p:sp>
        <p:nvSpPr>
          <p:cNvPr id="16" name="Etapa titlu 3"/>
          <p:cNvSpPr txBox="1"/>
          <p:nvPr/>
        </p:nvSpPr>
        <p:spPr>
          <a:xfrm>
            <a:off x="6460236" y="2377440"/>
            <a:ext cx="215569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3. Dovezile echipelor</a:t>
            </a:r>
            <a:endParaRPr lang="en-US" sz="1800" dirty="0"/>
          </a:p>
        </p:txBody>
      </p:sp>
      <p:sp>
        <p:nvSpPr>
          <p:cNvPr id="17" name="Etapa text 3"/>
          <p:cNvSpPr txBox="1"/>
          <p:nvPr/>
        </p:nvSpPr>
        <p:spPr>
          <a:xfrm>
            <a:off x="6460236" y="2834640"/>
            <a:ext cx="21556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SERVER și IOS își adaugă secțiunea: id-uri, sha256, capturi, latențe.</a:t>
            </a:r>
            <a:endParaRPr lang="en-US" sz="1400" dirty="0"/>
          </a:p>
        </p:txBody>
      </p:sp>
      <p:sp>
        <p:nvSpPr>
          <p:cNvPr id="18" name="Etapa 4"/>
          <p:cNvSpPr/>
          <p:nvPr/>
        </p:nvSpPr>
        <p:spPr>
          <a:xfrm>
            <a:off x="9118854" y="1371600"/>
            <a:ext cx="2612898" cy="2514600"/>
          </a:xfrm>
          <a:prstGeom prst="roundRect">
            <a:avLst>
              <a:gd name="adj" fmla="val 2909"/>
            </a:avLst>
          </a:prstGeom>
          <a:solidFill>
            <a:schemeClr val="bg2"/>
          </a:solidFill>
          <a:ln/>
          <a:effectLst>
            <a:outerShdw sx="100000" sy="100000" kx="0" ky="0" algn="bl" rotWithShape="0" blurRad="76200" dist="25400" dir="5400000">
              <a:srgbClr val="17323F">
                <a:alpha val="14000"/>
              </a:srgbClr>
            </a:outerShdw>
          </a:effectLst>
        </p:spPr>
      </p:sp>
      <p:sp>
        <p:nvSpPr>
          <p:cNvPr id="19" name="Etapa 4 cerc"/>
          <p:cNvSpPr/>
          <p:nvPr/>
        </p:nvSpPr>
        <p:spPr>
          <a:xfrm>
            <a:off x="9347454" y="1600200"/>
            <a:ext cx="640080" cy="640080"/>
          </a:xfrm>
          <a:prstGeom prst="ellipse">
            <a:avLst/>
          </a:prstGeom>
          <a:solidFill>
            <a:schemeClr val="accent4"/>
          </a:solidFill>
          <a:ln/>
        </p:spPr>
      </p:sp>
      <p:pic>
        <p:nvPicPr>
          <p:cNvPr id="20" name="Etapa 4 icon" descr="Etapa 4">    </p:cNvPr>
          <p:cNvPicPr>
            <a:picLocks noChangeAspect="1"/>
          </p:cNvPicPr>
          <p:nvPr/>
        </p:nvPicPr>
        <p:blipFill>
          <a:blip r:embed="rId4"/>
          <a:stretch>
            <a:fillRect/>
          </a:stretch>
        </p:blipFill>
        <p:spPr>
          <a:xfrm>
            <a:off x="9520276" y="1773022"/>
            <a:ext cx="294437" cy="294437"/>
          </a:xfrm>
          <a:prstGeom prst="rect">
            <a:avLst/>
          </a:prstGeom>
        </p:spPr>
      </p:pic>
      <p:sp>
        <p:nvSpPr>
          <p:cNvPr id="21" name="Etapa titlu 4"/>
          <p:cNvSpPr txBox="1"/>
          <p:nvPr/>
        </p:nvSpPr>
        <p:spPr>
          <a:xfrm>
            <a:off x="9347454" y="2377440"/>
            <a:ext cx="2155698" cy="41148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4. Raport pe main</a:t>
            </a:r>
            <a:endParaRPr lang="en-US" sz="1800" dirty="0"/>
          </a:p>
        </p:txBody>
      </p:sp>
      <p:sp>
        <p:nvSpPr>
          <p:cNvPr id="22" name="Etapa text 4"/>
          <p:cNvSpPr txBox="1"/>
          <p:nvPr/>
        </p:nvSpPr>
        <p:spPr>
          <a:xfrm>
            <a:off x="9347454" y="2834640"/>
            <a:ext cx="21556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Raportul semnat de ambele echipe se comite în folderul coord.</a:t>
            </a:r>
            <a:endParaRPr lang="en-US" sz="1400" dirty="0"/>
          </a:p>
        </p:txBody>
      </p:sp>
      <p:sp>
        <p:nvSpPr>
          <p:cNvPr id="23" name="FAIL bucla"/>
          <p:cNvSpPr/>
          <p:nvPr/>
        </p:nvSpPr>
        <p:spPr>
          <a:xfrm>
            <a:off x="457200" y="4206240"/>
            <a:ext cx="6949440" cy="1920240"/>
          </a:xfrm>
          <a:prstGeom prst="roundRect">
            <a:avLst>
              <a:gd name="adj" fmla="val 3810"/>
            </a:avLst>
          </a:prstGeom>
          <a:solidFill>
            <a:schemeClr val="accent5">
              <a:alpha val="10000"/>
            </a:schemeClr>
          </a:solidFill>
          <a:ln/>
          <a:effectLst>
            <a:outerShdw sx="100000" sy="100000" kx="0" ky="0" algn="bl" rotWithShape="0" blurRad="76200" dist="25400" dir="5400000">
              <a:srgbClr val="17323F">
                <a:alpha val="14000"/>
              </a:srgbClr>
            </a:outerShdw>
          </a:effectLst>
        </p:spPr>
      </p:sp>
      <p:sp>
        <p:nvSpPr>
          <p:cNvPr id="24" name="FAIL cerc"/>
          <p:cNvSpPr/>
          <p:nvPr/>
        </p:nvSpPr>
        <p:spPr>
          <a:xfrm>
            <a:off x="685800" y="4434840"/>
            <a:ext cx="640080" cy="640080"/>
          </a:xfrm>
          <a:prstGeom prst="ellipse">
            <a:avLst/>
          </a:prstGeom>
          <a:solidFill>
            <a:schemeClr val="accent5"/>
          </a:solidFill>
          <a:ln/>
        </p:spPr>
      </p:sp>
      <p:pic>
        <p:nvPicPr>
          <p:cNvPr id="25" name="FAIL icon" descr="FAIL">    </p:cNvPr>
          <p:cNvPicPr>
            <a:picLocks noChangeAspect="1"/>
          </p:cNvPicPr>
          <p:nvPr/>
        </p:nvPicPr>
        <p:blipFill>
          <a:blip r:embed="rId5"/>
          <a:stretch>
            <a:fillRect/>
          </a:stretch>
        </p:blipFill>
        <p:spPr>
          <a:xfrm>
            <a:off x="858622" y="4607662"/>
            <a:ext cx="294437" cy="294437"/>
          </a:xfrm>
          <a:prstGeom prst="rect">
            <a:avLst/>
          </a:prstGeom>
        </p:spPr>
      </p:pic>
      <p:sp>
        <p:nvSpPr>
          <p:cNvPr id="26" name="FAIL titlu"/>
          <p:cNvSpPr txBox="1"/>
          <p:nvPr/>
        </p:nvSpPr>
        <p:spPr>
          <a:xfrm>
            <a:off x="1508760" y="4434840"/>
            <a:ext cx="5669280" cy="640080"/>
          </a:xfrm>
          <a:prstGeom prst="rect">
            <a:avLst/>
          </a:prstGeom>
          <a:noFill/>
          <a:ln/>
        </p:spPr>
        <p:txBody>
          <a:bodyPr wrap="square" lIns="0" tIns="0" rIns="0" bIns="0" rtlCol="0" anchor="ctr"/>
          <a:lstStyle/>
          <a:p>
            <a:pPr indent="0" marL="0">
              <a:buNone/>
            </a:pPr>
            <a:r>
              <a:rPr lang="en-US" sz="1800" b="1" dirty="0">
                <a:solidFill>
                  <a:schemeClr val="accent5"/>
                </a:solidFill>
                <a:latin typeface="Calibri" pitchFamily="34" charset="0"/>
                <a:ea typeface="Calibri" pitchFamily="34" charset="-122"/>
                <a:cs typeface="Calibri" pitchFamily="34" charset="-120"/>
              </a:rPr>
              <a:t>Un FAIL nu se ascunde</a:t>
            </a:r>
            <a:endParaRPr lang="en-US" sz="1800" dirty="0"/>
          </a:p>
        </p:txBody>
      </p:sp>
      <p:sp>
        <p:nvSpPr>
          <p:cNvPr id="27" name="FAIL pasi"/>
          <p:cNvSpPr txBox="1"/>
          <p:nvPr/>
        </p:nvSpPr>
        <p:spPr>
          <a:xfrm>
            <a:off x="685800" y="5120640"/>
            <a:ext cx="6492240" cy="914400"/>
          </a:xfrm>
          <a:prstGeom prst="rect">
            <a:avLst/>
          </a:prstGeom>
          <a:noFill/>
          <a:ln/>
        </p:spPr>
        <p:txBody>
          <a:bodyPr wrap="square" lIns="0" tIns="0" rIns="0" bIns="0" rtlCol="0" anchor="t"/>
          <a:lstStyle/>
          <a:p>
            <a:pPr marL="342900" indent="-3429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FAIL → sarcină nouă SRV-* sau IOS-*, prioritate P0</a:t>
            </a:r>
            <a:endParaRPr lang="en-US" sz="1600" dirty="0"/>
          </a:p>
          <a:p>
            <a:pPr marL="342900" indent="-3429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după reparare → re-test într-o sesiune scurtă de confirmare</a:t>
            </a:r>
            <a:endParaRPr lang="en-US" sz="1600" dirty="0"/>
          </a:p>
          <a:p>
            <a:pPr marL="342900" indent="-342900">
              <a:spcAft>
                <a:spcPts val="200"/>
              </a:spcAft>
              <a:buSzPct val="100000"/>
              <a:buChar char="•"/>
            </a:pPr>
            <a:r>
              <a:rPr lang="en-US" sz="1600" dirty="0">
                <a:solidFill>
                  <a:schemeClr val="tx1"/>
                </a:solidFill>
                <a:latin typeface="Calibri" pitchFamily="34" charset="0"/>
                <a:ea typeface="Calibri" pitchFamily="34" charset="-122"/>
                <a:cs typeface="Calibri" pitchFamily="34" charset="-120"/>
              </a:rPr>
              <a:t>fără dovadă → NOT RUN, nu PASS</a:t>
            </a:r>
            <a:endParaRPr lang="en-US" sz="1600" dirty="0"/>
          </a:p>
        </p:txBody>
      </p:sp>
      <p:sp>
        <p:nvSpPr>
          <p:cNvPr id="28" name="Rezumat proprietar"/>
          <p:cNvSpPr/>
          <p:nvPr/>
        </p:nvSpPr>
        <p:spPr>
          <a:xfrm>
            <a:off x="7680960" y="4206240"/>
            <a:ext cx="4050792" cy="1920240"/>
          </a:xfrm>
          <a:prstGeom prst="roundRect">
            <a:avLst>
              <a:gd name="adj" fmla="val 3810"/>
            </a:avLst>
          </a:prstGeom>
          <a:solidFill>
            <a:schemeClr val="bg2"/>
          </a:solidFill>
          <a:ln/>
          <a:effectLst>
            <a:outerShdw sx="100000" sy="100000" kx="0" ky="0" algn="bl" rotWithShape="0" blurRad="76200" dist="25400" dir="5400000">
              <a:srgbClr val="17323F">
                <a:alpha val="14000"/>
              </a:srgbClr>
            </a:outerShdw>
          </a:effectLst>
        </p:spPr>
      </p:sp>
      <p:sp>
        <p:nvSpPr>
          <p:cNvPr id="29" name="Proprietar cerc"/>
          <p:cNvSpPr/>
          <p:nvPr/>
        </p:nvSpPr>
        <p:spPr>
          <a:xfrm>
            <a:off x="7909560" y="4434840"/>
            <a:ext cx="640080" cy="640080"/>
          </a:xfrm>
          <a:prstGeom prst="ellipse">
            <a:avLst/>
          </a:prstGeom>
          <a:solidFill>
            <a:schemeClr val="accent6"/>
          </a:solidFill>
          <a:ln/>
        </p:spPr>
      </p:sp>
      <p:pic>
        <p:nvPicPr>
          <p:cNvPr id="30" name="Proprietar icon" descr="Proprietar">    </p:cNvPr>
          <p:cNvPicPr>
            <a:picLocks noChangeAspect="1"/>
          </p:cNvPicPr>
          <p:nvPr/>
        </p:nvPicPr>
        <p:blipFill>
          <a:blip r:embed="rId6"/>
          <a:stretch>
            <a:fillRect/>
          </a:stretch>
        </p:blipFill>
        <p:spPr>
          <a:xfrm>
            <a:off x="8082382" y="4607662"/>
            <a:ext cx="294437" cy="294437"/>
          </a:xfrm>
          <a:prstGeom prst="rect">
            <a:avLst/>
          </a:prstGeom>
        </p:spPr>
      </p:pic>
      <p:sp>
        <p:nvSpPr>
          <p:cNvPr id="31" name="Proprietar titlu"/>
          <p:cNvSpPr txBox="1"/>
          <p:nvPr/>
        </p:nvSpPr>
        <p:spPr>
          <a:xfrm>
            <a:off x="8732520" y="4434840"/>
            <a:ext cx="2834640" cy="64008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Pentru proprietar</a:t>
            </a:r>
            <a:endParaRPr lang="en-US" sz="1800" dirty="0"/>
          </a:p>
        </p:txBody>
      </p:sp>
      <p:sp>
        <p:nvSpPr>
          <p:cNvPr id="32" name="Proprietar text"/>
          <p:cNvSpPr txBox="1"/>
          <p:nvPr/>
        </p:nvSpPr>
        <p:spPr>
          <a:xfrm>
            <a:off x="7909560" y="5166360"/>
            <a:ext cx="36118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Un rezumat de 5–10 rânduri: ce a trecut, ce a picat, ce urmează.</a:t>
            </a:r>
            <a:endParaRPr lang="en-US" sz="16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4552"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Rezumatul sesiunii</a:t>
            </a:r>
            <a:endParaRPr lang="en-US" sz="3600" dirty="0"/>
          </a:p>
        </p:txBody>
      </p:sp>
      <p:graphicFrame>
        <p:nvGraphicFramePr>
          <p:cNvPr id="40" name="Tabel rezumat"/>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3931920"/>
                <a:gridCol w="2587752"/>
                <a:gridCol w="1581912"/>
                <a:gridCol w="1581912"/>
                <a:gridCol w="1591056"/>
              </a:tblGrid>
              <a:tr h="475488">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Fază</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accent3"/>
                    </a:solidFill>
                  </a:tcPr>
                </a:tc>
                <a:tc>
                  <a:txBody>
                    <a:bodyPr/>
                    <a:lstStyle/>
                    <a:p>
                      <a:pPr algn="l" indent="0" marL="0">
                        <a:buNone/>
                      </a:pPr>
                      <a:r>
                        <a:rPr lang="en-US" sz="1600" b="1" dirty="0">
                          <a:solidFill>
                            <a:schemeClr val="bg1"/>
                          </a:solidFill>
                          <a:latin typeface="Calibri" pitchFamily="34" charset="0"/>
                          <a:ea typeface="Calibri" pitchFamily="34" charset="-122"/>
                          <a:cs typeface="Calibri" pitchFamily="34" charset="-120"/>
                        </a:rPr>
                        <a:t>Teste</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accent3"/>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PASS</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accent4"/>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FAIL</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accent5"/>
                    </a:solidFill>
                  </a:tcPr>
                </a:tc>
                <a:tc>
                  <a:txBody>
                    <a:bodyPr/>
                    <a:lstStyle/>
                    <a:p>
                      <a:pPr algn="ctr" indent="0" marL="0">
                        <a:buNone/>
                      </a:pPr>
                      <a:r>
                        <a:rPr lang="en-US" sz="1600" b="1" dirty="0">
                          <a:solidFill>
                            <a:schemeClr val="bg1"/>
                          </a:solidFill>
                          <a:latin typeface="Calibri" pitchFamily="34" charset="0"/>
                          <a:ea typeface="Calibri" pitchFamily="34" charset="-122"/>
                          <a:cs typeface="Calibri" pitchFamily="34" charset="-120"/>
                        </a:rPr>
                        <a:t>NOT RUN</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tx2"/>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F1 · Automat server</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suita automată</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F2 · Audit independent</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3 lentile, 10/10</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F3 · Automat iOS</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unit + UI</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F4 · LIVE LAN, același user</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15 (T-L01…T-L15)</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F5 · Doi useri</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4 (T-U01…T-U04)</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F6 · WAN</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4 (T-W01…T-W04)</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F7 · Reziliență</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latin typeface="Calibri" pitchFamily="34" charset="0"/>
                          <a:ea typeface="Calibri" pitchFamily="34" charset="-122"/>
                          <a:cs typeface="Calibri" pitchFamily="34" charset="-120"/>
                        </a:rPr>
                        <a:t>5 (T-R01…T-R05)</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1"/>
                    </a:solidFill>
                  </a:tcPr>
                </a:tc>
              </a:tr>
              <a:tr h="475488">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Total live (F4–F7)</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2"/>
                    </a:solidFill>
                  </a:tcPr>
                </a:tc>
                <a:tc>
                  <a:txBody>
                    <a:bodyPr/>
                    <a:lstStyle/>
                    <a:p>
                      <a:pPr algn="l" indent="0" marL="0">
                        <a:buNone/>
                      </a:pPr>
                      <a:r>
                        <a:rPr lang="en-US" sz="1600" b="1" dirty="0">
                          <a:solidFill>
                            <a:schemeClr val="tx1"/>
                          </a:solidFill>
                          <a:latin typeface="Calibri" pitchFamily="34" charset="0"/>
                          <a:ea typeface="Calibri" pitchFamily="34" charset="-122"/>
                          <a:cs typeface="Calibri" pitchFamily="34" charset="-120"/>
                        </a:rPr>
                        <a:t>28</a:t>
                      </a: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2"/>
                    </a:solidFill>
                  </a:tcPr>
                </a:tc>
                <a:tc>
                  <a:txBody>
                    <a:bodyPr/>
                    <a:lstStyle/>
                    <a:p>
                      <a:pPr algn="ctr" indent="0" marL="0">
                        <a:buNone/>
                      </a:pPr>
                      <a:endParaRPr lang="en-US" sz="1600" dirty="0">
                        <a:latin typeface="Calibri" charset="0"/>
                        <a:ea typeface="Calibri" charset="0"/>
                        <a:cs typeface="Calibri" charset="0"/>
                      </a:endParaRPr>
                    </a:p>
                  </a:txBody>
                  <a:tcPr marL="109728" marR="109728" marT="0" marB="0" anchor="ctr">
                    <a:lnL w="12700" cap="flat" cmpd="sng" algn="ctr">
                      <a:solidFill>
                        <a:srgbClr val="C9D3D6"/>
                      </a:solidFill>
                      <a:prstDash val="solid"/>
                      <a:round/>
                      <a:headEnd type="none" w="med" len="med"/>
                      <a:tailEnd type="none" w="med" len="med"/>
                    </a:lnL>
                    <a:lnR w="12700" cap="flat" cmpd="sng" algn="ctr">
                      <a:solidFill>
                        <a:srgbClr val="C9D3D6"/>
                      </a:solidFill>
                      <a:prstDash val="solid"/>
                      <a:round/>
                      <a:headEnd type="none" w="med" len="med"/>
                      <a:tailEnd type="none" w="med" len="med"/>
                    </a:lnR>
                    <a:lnT w="12700" cap="flat" cmpd="sng" algn="ctr">
                      <a:solidFill>
                        <a:srgbClr val="C9D3D6"/>
                      </a:solidFill>
                      <a:prstDash val="solid"/>
                      <a:round/>
                      <a:headEnd type="none" w="med" len="med"/>
                      <a:tailEnd type="none" w="med" len="med"/>
                    </a:lnT>
                    <a:lnB w="12700" cap="flat" cmpd="sng" algn="ctr">
                      <a:solidFill>
                        <a:srgbClr val="C9D3D6"/>
                      </a:solidFill>
                      <a:prstDash val="solid"/>
                      <a:round/>
                      <a:headEnd type="none" w="med" len="med"/>
                      <a:tailEnd type="none" w="med" len="med"/>
                    </a:lnB>
                    <a:solidFill>
                      <a:schemeClr val="bg2"/>
                    </a:solidFill>
                  </a:tcPr>
                </a:tc>
              </a:tr>
            </a:tbl>
          </a:graphicData>
        </a:graphic>
      </p:graphicFrame>
      <p:sp>
        <p:nvSpPr>
          <p:cNvPr id="4" name="Semnaturi"/>
          <p:cNvSpPr txBox="1"/>
          <p:nvPr/>
        </p:nvSpPr>
        <p:spPr>
          <a:xfrm>
            <a:off x="457200" y="5806440"/>
            <a:ext cx="11274552" cy="36576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Semnat: SERVER ____________    IOS ____________    Proprietar ____________    Data și ora: ____________</a:t>
            </a:r>
            <a:endParaRPr lang="en-US" sz="1400" dirty="0"/>
          </a:p>
        </p:txBody>
      </p:sp>
      <p:sp>
        <p:nvSpPr>
          <p:cNvPr id="25" name="Slide Number Placeholder 0"/>
          <p:cNvSpPr>
            <a:spLocks noGrp="1"/>
          </p:cNvSpPr>
          <p:nvPr>
            <p:ph type="sldNum" sz="quarter" idx="4294967295"/>
          </p:nvPr>
        </p:nvSpPr>
        <p:spPr>
          <a:xfrm>
            <a:off x="11155680" y="6355080"/>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tx2"/>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theme/theme1.xml><?xml version="1.0" encoding="utf-8"?>
<a:theme xmlns:a="http://schemas.openxmlformats.org/drawingml/2006/main" name="EVA Test Teal">
  <a:themeElements>
    <a:clrScheme name="EVA Test Teal">
      <a:dk1>
        <a:srgbClr val="1E293B"/>
      </a:dk1>
      <a:lt1>
        <a:srgbClr val="FFFFFF"/>
      </a:lt1>
      <a:dk2>
        <a:srgbClr val="52606D"/>
      </a:dk2>
      <a:lt2>
        <a:srgbClr val="EEF4F5"/>
      </a:lt2>
      <a:accent1>
        <a:srgbClr val="0E7C86"/>
      </a:accent1>
      <a:accent2>
        <a:srgbClr val="6D4FC2"/>
      </a:accent2>
      <a:accent3>
        <a:srgbClr val="17323F"/>
      </a:accent3>
      <a:accent4>
        <a:srgbClr val="1F9D55"/>
      </a:accent4>
      <a:accent5>
        <a:srgbClr val="D9482B"/>
      </a:accent5>
      <a:accent6>
        <a:srgbClr val="C98A12"/>
      </a:accent6>
      <a:hlink>
        <a:srgbClr val="0E7C86"/>
      </a:hlink>
      <a:folHlink>
        <a:srgbClr val="6D4FC2"/>
      </a:folHlink>
    </a:clrScheme>
    <a:fontScheme name="EVA Test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EVA 3D Scan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final EVA 3D Scan: două telefoane, LAN și WAN</dc:title>
  <dc:subject>PptxGenJS Presentation</dc:subject>
  <dc:creator>Echipele SERVER și IOS</dc:creator>
  <cp:lastModifiedBy>Echipele SERVER și IOS</cp:lastModifiedBy>
  <cp:revision>1</cp:revision>
  <dcterms:created xsi:type="dcterms:W3CDTF">2026-10-07T01:31:16Z</dcterms:created>
  <dcterms:modified xsi:type="dcterms:W3CDTF">2026-10-07T01:31:16Z</dcterms:modified>
</cp:coreProperties>
</file>